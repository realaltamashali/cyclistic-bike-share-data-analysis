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57" r:id="rId5"/>
    <p:sldId id="265" r:id="rId6"/>
    <p:sldId id="266" r:id="rId7"/>
    <p:sldId id="267" r:id="rId8"/>
    <p:sldId id="275" r:id="rId9"/>
    <p:sldId id="268" r:id="rId10"/>
    <p:sldId id="276" r:id="rId11"/>
    <p:sldId id="269" r:id="rId12"/>
    <p:sldId id="277" r:id="rId13"/>
    <p:sldId id="270" r:id="rId14"/>
    <p:sldId id="278" r:id="rId15"/>
    <p:sldId id="271" r:id="rId16"/>
    <p:sldId id="279" r:id="rId17"/>
    <p:sldId id="272" r:id="rId18"/>
    <p:sldId id="280" r:id="rId19"/>
    <p:sldId id="273" r:id="rId20"/>
    <p:sldId id="281" r:id="rId21"/>
    <p:sldId id="274" r:id="rId22"/>
    <p:sldId id="282" r:id="rId23"/>
    <p:sldId id="258" r:id="rId24"/>
    <p:sldId id="259" r:id="rId25"/>
    <p:sldId id="260" r:id="rId26"/>
    <p:sldId id="283" r:id="rId27"/>
    <p:sldId id="284" r:id="rId28"/>
    <p:sldId id="285" r:id="rId29"/>
    <p:sldId id="288" r:id="rId30"/>
    <p:sldId id="286" r:id="rId31"/>
    <p:sldId id="28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1E5FF"/>
    <a:srgbClr val="579CDB"/>
    <a:srgbClr val="5A9CDB"/>
    <a:srgbClr val="ADFFEA"/>
    <a:srgbClr val="61FBFF"/>
    <a:srgbClr val="7AE6E6"/>
    <a:srgbClr val="6EF2F2"/>
    <a:srgbClr val="0047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788A5-9711-9C7C-9035-B7F88AC6F2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22726D-2ECB-EAE5-2752-BDB9853B2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9DFFCD-8AEF-1770-B378-03FC548B5E1C}"/>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5" name="Footer Placeholder 4">
            <a:extLst>
              <a:ext uri="{FF2B5EF4-FFF2-40B4-BE49-F238E27FC236}">
                <a16:creationId xmlns:a16="http://schemas.microsoft.com/office/drawing/2014/main" id="{ECE47CA0-516E-4973-2DAD-425DD8B83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A65D6B-6328-EE5A-CD38-C2D2E8E47192}"/>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877239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154DB-EE61-CC1E-78F3-8B13119DAA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F7F529-F37C-91E5-B521-C2AD781CAE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CFCF74-42D9-DB67-2C91-8D192FF31718}"/>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5" name="Footer Placeholder 4">
            <a:extLst>
              <a:ext uri="{FF2B5EF4-FFF2-40B4-BE49-F238E27FC236}">
                <a16:creationId xmlns:a16="http://schemas.microsoft.com/office/drawing/2014/main" id="{D4283149-D1A4-CD5D-B6C4-2D9085A7E4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935639-5032-E1EC-99DB-3642ECA13DCD}"/>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2739652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6D893-B714-140C-7B58-DBD166E1C4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45EB7F9-0B86-CBAA-0033-01F3A148D0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EE1D1A-AB11-104D-217D-DA03F46B5A7D}"/>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5" name="Footer Placeholder 4">
            <a:extLst>
              <a:ext uri="{FF2B5EF4-FFF2-40B4-BE49-F238E27FC236}">
                <a16:creationId xmlns:a16="http://schemas.microsoft.com/office/drawing/2014/main" id="{6123D295-2526-47A1-733D-2FCC599998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B46067-BB11-D200-0C62-B7268787DCD8}"/>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517366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2E3D5-F638-9A93-8417-1FC3D8ADB0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4A20D9-7370-F790-ABE3-93B404E501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28609B0-A9DB-CF44-092B-384349AE5A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D7C60B-E8D0-08E5-CAB5-FB5B43B83DE1}"/>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6" name="Footer Placeholder 5">
            <a:extLst>
              <a:ext uri="{FF2B5EF4-FFF2-40B4-BE49-F238E27FC236}">
                <a16:creationId xmlns:a16="http://schemas.microsoft.com/office/drawing/2014/main" id="{105E8E03-7B18-798C-DF0C-068E2F2A4C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166C7A-BE99-125D-FE52-31BE8153DCD4}"/>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188338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6B96-31FC-DBA4-984E-472C39FFB5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950DFC-9029-4788-ECED-DC458D6039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A314B8-8164-83F7-BE4D-6F27C55787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1CBA8DF-D732-9CBB-1693-7532E59CA1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7ADB00-C218-3698-429E-DBBC58B218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8E0601-9BC0-BF17-6A2B-56F98B7F95BB}"/>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8" name="Footer Placeholder 7">
            <a:extLst>
              <a:ext uri="{FF2B5EF4-FFF2-40B4-BE49-F238E27FC236}">
                <a16:creationId xmlns:a16="http://schemas.microsoft.com/office/drawing/2014/main" id="{37A4A894-DA5F-D3BA-9277-90E3184082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489689-C289-9F29-DBD7-8058D0951603}"/>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810082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95DC9-5BF9-C76C-B7FB-4E160D511E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0E3ABAD-9F96-1626-D6DF-C406F843D01D}"/>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4" name="Footer Placeholder 3">
            <a:extLst>
              <a:ext uri="{FF2B5EF4-FFF2-40B4-BE49-F238E27FC236}">
                <a16:creationId xmlns:a16="http://schemas.microsoft.com/office/drawing/2014/main" id="{2AB34763-F9C7-41F8-5C05-BD509FECA9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295625-2674-C674-704D-A3B3361D05F6}"/>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4255284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8F89EB-5C5B-BC39-A413-5F1F3F12824E}"/>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3" name="Footer Placeholder 2">
            <a:extLst>
              <a:ext uri="{FF2B5EF4-FFF2-40B4-BE49-F238E27FC236}">
                <a16:creationId xmlns:a16="http://schemas.microsoft.com/office/drawing/2014/main" id="{770EDCC9-08B6-5CD5-75BC-A53959F70B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594C024-DAD5-97C5-FD6A-03D56B27A239}"/>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1523208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CFD-E6D8-6BAE-FC1F-505F6362C1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2083DD-9EB8-8937-B620-F38F5AC61B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6180AB-5EAF-19E5-DEA8-00C14FB2F2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FA1BCE-0AB5-8BB6-F6D5-DEAB5F465F40}"/>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6" name="Footer Placeholder 5">
            <a:extLst>
              <a:ext uri="{FF2B5EF4-FFF2-40B4-BE49-F238E27FC236}">
                <a16:creationId xmlns:a16="http://schemas.microsoft.com/office/drawing/2014/main" id="{4E1A0400-8C8A-DE9A-FF17-8765DA7B8D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FF61DF-1EE2-4C56-BC57-2975D4E88849}"/>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3172958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98E7-55D3-459B-7E25-7FA91DD95E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91E0BC-DD43-2B1D-28D2-F5BE40D81D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7D8B04-6ED1-5FD0-C6B5-4013E4A3FE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4C27EE-94FE-0128-E030-EE3AEB87760F}"/>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6" name="Footer Placeholder 5">
            <a:extLst>
              <a:ext uri="{FF2B5EF4-FFF2-40B4-BE49-F238E27FC236}">
                <a16:creationId xmlns:a16="http://schemas.microsoft.com/office/drawing/2014/main" id="{B3E5D7D1-C894-EFC4-B0C3-8E00BDAD3C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06E384-7CCD-FC44-46D3-3409CDFAEBB4}"/>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4171522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71E43-DCF0-1C45-CDDD-5CD0283A1D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A9E96D-2750-2DBF-BA54-8567D75DE5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A8F16C-E693-ACDF-4866-9E6206B9AF93}"/>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5" name="Footer Placeholder 4">
            <a:extLst>
              <a:ext uri="{FF2B5EF4-FFF2-40B4-BE49-F238E27FC236}">
                <a16:creationId xmlns:a16="http://schemas.microsoft.com/office/drawing/2014/main" id="{0095D810-7B42-C42B-9791-4149D51FE5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122DF6-2B4F-1B70-6F6F-3776C70E62A5}"/>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1656263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A6DAC1-119B-2C1F-8461-63E9D6526D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0837CB-8595-D847-F2D4-0EE1D25D3D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680C7A-98C7-0DB5-7927-CBF2B326A2C4}"/>
              </a:ext>
            </a:extLst>
          </p:cNvPr>
          <p:cNvSpPr>
            <a:spLocks noGrp="1"/>
          </p:cNvSpPr>
          <p:nvPr>
            <p:ph type="dt" sz="half" idx="10"/>
          </p:nvPr>
        </p:nvSpPr>
        <p:spPr/>
        <p:txBody>
          <a:bodyPr/>
          <a:lstStyle/>
          <a:p>
            <a:fld id="{49C53D22-A091-4AA1-A8BA-5055B2970300}" type="datetimeFigureOut">
              <a:rPr lang="en-IN" smtClean="0"/>
              <a:t>28-04-2025</a:t>
            </a:fld>
            <a:endParaRPr lang="en-IN"/>
          </a:p>
        </p:txBody>
      </p:sp>
      <p:sp>
        <p:nvSpPr>
          <p:cNvPr id="5" name="Footer Placeholder 4">
            <a:extLst>
              <a:ext uri="{FF2B5EF4-FFF2-40B4-BE49-F238E27FC236}">
                <a16:creationId xmlns:a16="http://schemas.microsoft.com/office/drawing/2014/main" id="{F79ED006-1F22-B6B7-92F4-03D8191F28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C3E618-4ABA-E0A3-4DC6-05A8CE686D47}"/>
              </a:ext>
            </a:extLst>
          </p:cNvPr>
          <p:cNvSpPr>
            <a:spLocks noGrp="1"/>
          </p:cNvSpPr>
          <p:nvPr>
            <p:ph type="sldNum" sz="quarter" idx="12"/>
          </p:nvPr>
        </p:nvSpPr>
        <p:spPr/>
        <p:txBody>
          <a:bodyPr/>
          <a:lstStyle/>
          <a:p>
            <a:fld id="{5795637B-00A6-44D4-B96A-9A3A78076FF5}" type="slidenum">
              <a:rPr lang="en-IN" smtClean="0"/>
              <a:t>‹#›</a:t>
            </a:fld>
            <a:endParaRPr lang="en-IN"/>
          </a:p>
        </p:txBody>
      </p:sp>
    </p:spTree>
    <p:extLst>
      <p:ext uri="{BB962C8B-B14F-4D97-AF65-F5344CB8AC3E}">
        <p14:creationId xmlns:p14="http://schemas.microsoft.com/office/powerpoint/2010/main" val="2234351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50000">
              <a:srgbClr val="61E5FF"/>
            </a:gs>
            <a:gs pos="100000">
              <a:srgbClr val="579CDB"/>
            </a:gs>
          </a:gsLst>
          <a:lin ang="81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8E5509-16E6-3D3C-498D-90683943C5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471214-560E-A416-32C8-747F6AE4DD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B6C77A-FACC-2401-17A6-DC430970B3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C53D22-A091-4AA1-A8BA-5055B2970300}" type="datetimeFigureOut">
              <a:rPr lang="en-IN" smtClean="0"/>
              <a:t>28-04-2025</a:t>
            </a:fld>
            <a:endParaRPr lang="en-IN"/>
          </a:p>
        </p:txBody>
      </p:sp>
      <p:sp>
        <p:nvSpPr>
          <p:cNvPr id="5" name="Footer Placeholder 4">
            <a:extLst>
              <a:ext uri="{FF2B5EF4-FFF2-40B4-BE49-F238E27FC236}">
                <a16:creationId xmlns:a16="http://schemas.microsoft.com/office/drawing/2014/main" id="{251309DB-7B81-1038-7FEB-27C71DAF05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ECF35E-2FB7-8B68-1C71-25ED2969B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95637B-00A6-44D4-B96A-9A3A78076FF5}" type="slidenum">
              <a:rPr lang="en-IN" smtClean="0"/>
              <a:t>‹#›</a:t>
            </a:fld>
            <a:endParaRPr lang="en-IN"/>
          </a:p>
        </p:txBody>
      </p:sp>
    </p:spTree>
    <p:extLst>
      <p:ext uri="{BB962C8B-B14F-4D97-AF65-F5344CB8AC3E}">
        <p14:creationId xmlns:p14="http://schemas.microsoft.com/office/powerpoint/2010/main" val="9964876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ivvy-tripdata.s3.amazonaws.com/Divvy_Stations_Trips_2013.zip" TargetMode="External"/><Relationship Id="rId2" Type="http://schemas.openxmlformats.org/officeDocument/2006/relationships/hyperlink" Target="https://divvy-tripdata.s3.amazonaws.com/index.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8185-33FD-BE98-2D32-52A512E38BB1}"/>
              </a:ext>
            </a:extLst>
          </p:cNvPr>
          <p:cNvSpPr>
            <a:spLocks noGrp="1"/>
          </p:cNvSpPr>
          <p:nvPr>
            <p:ph type="ctrTitle"/>
          </p:nvPr>
        </p:nvSpPr>
        <p:spPr>
          <a:xfrm>
            <a:off x="1558413" y="2235200"/>
            <a:ext cx="9144000" cy="2387600"/>
          </a:xfrm>
        </p:spPr>
        <p:txBody>
          <a:bodyPr/>
          <a:lstStyle/>
          <a:p>
            <a:pPr>
              <a:lnSpc>
                <a:spcPct val="100000"/>
              </a:lnSpc>
            </a:pPr>
            <a:r>
              <a:rPr lang="en-US" b="1" dirty="0" err="1">
                <a:solidFill>
                  <a:srgbClr val="0047AB"/>
                </a:solidFill>
                <a:latin typeface="+mn-lt"/>
              </a:rPr>
              <a:t>Cyclistic</a:t>
            </a:r>
            <a:r>
              <a:rPr lang="en-US" b="1" dirty="0">
                <a:solidFill>
                  <a:srgbClr val="0047AB"/>
                </a:solidFill>
                <a:latin typeface="+mn-lt"/>
              </a:rPr>
              <a:t> Bike Share Data Analysis</a:t>
            </a:r>
            <a:endParaRPr lang="en-IN" b="1" dirty="0">
              <a:solidFill>
                <a:srgbClr val="0047AB"/>
              </a:solidFill>
              <a:latin typeface="+mn-lt"/>
            </a:endParaRPr>
          </a:p>
        </p:txBody>
      </p:sp>
      <p:sp>
        <p:nvSpPr>
          <p:cNvPr id="3" name="Subtitle 2">
            <a:extLst>
              <a:ext uri="{FF2B5EF4-FFF2-40B4-BE49-F238E27FC236}">
                <a16:creationId xmlns:a16="http://schemas.microsoft.com/office/drawing/2014/main" id="{CDCCE19D-4E62-B6B9-233C-FBB00319D940}"/>
              </a:ext>
            </a:extLst>
          </p:cNvPr>
          <p:cNvSpPr>
            <a:spLocks noGrp="1"/>
          </p:cNvSpPr>
          <p:nvPr>
            <p:ph type="subTitle" idx="1"/>
          </p:nvPr>
        </p:nvSpPr>
        <p:spPr>
          <a:xfrm>
            <a:off x="1523999" y="4795685"/>
            <a:ext cx="9144000" cy="1655762"/>
          </a:xfrm>
        </p:spPr>
        <p:txBody>
          <a:bodyPr>
            <a:normAutofit fontScale="92500" lnSpcReduction="20000"/>
          </a:bodyPr>
          <a:lstStyle/>
          <a:p>
            <a:pPr>
              <a:lnSpc>
                <a:spcPct val="110000"/>
              </a:lnSpc>
            </a:pPr>
            <a:r>
              <a:rPr lang="en-IN" sz="2000" b="1" dirty="0"/>
              <a:t>Insights &amp; Recommendations</a:t>
            </a:r>
          </a:p>
          <a:p>
            <a:pPr>
              <a:lnSpc>
                <a:spcPct val="110000"/>
              </a:lnSpc>
            </a:pPr>
            <a:endParaRPr lang="en-IN" dirty="0"/>
          </a:p>
          <a:p>
            <a:pPr>
              <a:lnSpc>
                <a:spcPct val="110000"/>
              </a:lnSpc>
            </a:pPr>
            <a:endParaRPr lang="en-IN" dirty="0"/>
          </a:p>
          <a:p>
            <a:pPr>
              <a:lnSpc>
                <a:spcPct val="110000"/>
              </a:lnSpc>
            </a:pPr>
            <a:r>
              <a:rPr lang="en-IN" sz="2000" b="1" i="1" dirty="0"/>
              <a:t>Prepared by Altamash Ali</a:t>
            </a:r>
          </a:p>
        </p:txBody>
      </p:sp>
      <p:pic>
        <p:nvPicPr>
          <p:cNvPr id="7" name="Picture 6">
            <a:extLst>
              <a:ext uri="{FF2B5EF4-FFF2-40B4-BE49-F238E27FC236}">
                <a16:creationId xmlns:a16="http://schemas.microsoft.com/office/drawing/2014/main" id="{C816008A-E37E-7CD3-80BE-006351F4F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9986" y="406553"/>
            <a:ext cx="2812026" cy="2387600"/>
          </a:xfrm>
          <a:prstGeom prst="rect">
            <a:avLst/>
          </a:prstGeom>
        </p:spPr>
      </p:pic>
    </p:spTree>
    <p:extLst>
      <p:ext uri="{BB962C8B-B14F-4D97-AF65-F5344CB8AC3E}">
        <p14:creationId xmlns:p14="http://schemas.microsoft.com/office/powerpoint/2010/main" val="2345006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554DF-36B9-5BE7-A978-9C04C910315B}"/>
              </a:ext>
            </a:extLst>
          </p:cNvPr>
          <p:cNvSpPr>
            <a:spLocks noGrp="1"/>
          </p:cNvSpPr>
          <p:nvPr>
            <p:ph type="title"/>
          </p:nvPr>
        </p:nvSpPr>
        <p:spPr/>
        <p:txBody>
          <a:bodyPr/>
          <a:lstStyle/>
          <a:p>
            <a:pPr>
              <a:lnSpc>
                <a:spcPct val="100000"/>
              </a:lnSpc>
            </a:pPr>
            <a:r>
              <a:rPr lang="en-IN" sz="4400" b="1" dirty="0">
                <a:solidFill>
                  <a:srgbClr val="0047AB"/>
                </a:solidFill>
                <a:effectLst/>
                <a:latin typeface="+mn-lt"/>
                <a:ea typeface="Aptos" panose="020B0004020202020204" pitchFamily="34"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AC408F2E-61E8-3F3B-9105-39B3778DF8B3}"/>
              </a:ext>
            </a:extLst>
          </p:cNvPr>
          <p:cNvSpPr>
            <a:spLocks noGrp="1"/>
          </p:cNvSpPr>
          <p:nvPr>
            <p:ph idx="1"/>
          </p:nvPr>
        </p:nvSpPr>
        <p:spPr/>
        <p:txBody>
          <a:bodyPr>
            <a:normAutofit/>
          </a:bodyPr>
          <a:lstStyle/>
          <a:p>
            <a:pPr marL="0" indent="0">
              <a:lnSpc>
                <a:spcPct val="150000"/>
              </a:lnSpc>
              <a:buNone/>
            </a:pPr>
            <a:r>
              <a:rPr lang="en-IN" b="1" dirty="0" err="1">
                <a:effectLst/>
                <a:ea typeface="Aptos" panose="020B0004020202020204" pitchFamily="34" charset="0"/>
                <a:cs typeface="Times New Roman" panose="02020603050405020304" pitchFamily="18" charset="0"/>
              </a:rPr>
              <a:t>Cyclistic</a:t>
            </a:r>
            <a:r>
              <a:rPr lang="en-IN" b="1" dirty="0">
                <a:effectLst/>
                <a:ea typeface="Aptos" panose="020B0004020202020204" pitchFamily="34" charset="0"/>
                <a:cs typeface="Times New Roman" panose="02020603050405020304" pitchFamily="18" charset="0"/>
              </a:rPr>
              <a:t>, a bike-share company in Chicago, aims to increase its number of annual memberships. This report examines the differences in usage patterns between annual members (or subscribers) and casual riders, with the goal of identifying opportunities to convert casual riders into members.</a:t>
            </a:r>
          </a:p>
          <a:p>
            <a:pPr marL="0" indent="0">
              <a:buNone/>
            </a:pPr>
            <a:endParaRPr lang="en-IN" sz="2400" dirty="0"/>
          </a:p>
        </p:txBody>
      </p:sp>
    </p:spTree>
    <p:extLst>
      <p:ext uri="{BB962C8B-B14F-4D97-AF65-F5344CB8AC3E}">
        <p14:creationId xmlns:p14="http://schemas.microsoft.com/office/powerpoint/2010/main" val="2065749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213E7-064E-B6CC-5970-8BC17C5B73F9}"/>
              </a:ext>
            </a:extLst>
          </p:cNvPr>
          <p:cNvSpPr>
            <a:spLocks noGrp="1"/>
          </p:cNvSpPr>
          <p:nvPr>
            <p:ph type="title"/>
          </p:nvPr>
        </p:nvSpPr>
        <p:spPr/>
        <p:txBody>
          <a:bodyPr/>
          <a:lstStyle/>
          <a:p>
            <a:pPr>
              <a:lnSpc>
                <a:spcPct val="100000"/>
              </a:lnSpc>
            </a:pPr>
            <a:r>
              <a:rPr lang="en-IN" sz="4400" b="1" dirty="0">
                <a:solidFill>
                  <a:srgbClr val="0047AB"/>
                </a:solidFill>
                <a:effectLst/>
                <a:latin typeface="+mn-lt"/>
                <a:ea typeface="Aptos" panose="020B0004020202020204" pitchFamily="34" charset="0"/>
                <a:cs typeface="Times New Roman" panose="02020603050405020304" pitchFamily="18" charset="0"/>
              </a:rPr>
              <a:t>Business Task</a:t>
            </a:r>
            <a:endParaRPr lang="en-IN" dirty="0"/>
          </a:p>
        </p:txBody>
      </p:sp>
      <p:sp>
        <p:nvSpPr>
          <p:cNvPr id="3" name="Content Placeholder 2">
            <a:extLst>
              <a:ext uri="{FF2B5EF4-FFF2-40B4-BE49-F238E27FC236}">
                <a16:creationId xmlns:a16="http://schemas.microsoft.com/office/drawing/2014/main" id="{1CF29018-B5CA-02FA-31B6-C199E446CB38}"/>
              </a:ext>
            </a:extLst>
          </p:cNvPr>
          <p:cNvSpPr>
            <a:spLocks noGrp="1"/>
          </p:cNvSpPr>
          <p:nvPr>
            <p:ph idx="1"/>
          </p:nvPr>
        </p:nvSpPr>
        <p:spPr/>
        <p:txBody>
          <a:bodyPr/>
          <a:lstStyle/>
          <a:p>
            <a:pPr marL="0" indent="0">
              <a:lnSpc>
                <a:spcPct val="150000"/>
              </a:lnSpc>
              <a:buNone/>
            </a:pPr>
            <a:r>
              <a:rPr lang="en-IN" b="1" dirty="0">
                <a:effectLst/>
                <a:ea typeface="Aptos" panose="020B0004020202020204" pitchFamily="34" charset="0"/>
                <a:cs typeface="Times New Roman" panose="02020603050405020304" pitchFamily="18" charset="0"/>
              </a:rPr>
              <a:t>Determine how annual members and casual riders use </a:t>
            </a:r>
            <a:r>
              <a:rPr lang="en-IN" b="1" dirty="0" err="1">
                <a:effectLst/>
                <a:ea typeface="Aptos" panose="020B0004020202020204" pitchFamily="34" charset="0"/>
                <a:cs typeface="Times New Roman" panose="02020603050405020304" pitchFamily="18" charset="0"/>
              </a:rPr>
              <a:t>Cyclistic</a:t>
            </a:r>
            <a:r>
              <a:rPr lang="en-IN" b="1" dirty="0">
                <a:effectLst/>
                <a:ea typeface="Aptos" panose="020B0004020202020204" pitchFamily="34" charset="0"/>
                <a:cs typeface="Times New Roman" panose="02020603050405020304" pitchFamily="18" charset="0"/>
              </a:rPr>
              <a:t> bikes differently, providing insights to inform a marketing strategy aimed at increasing annual memberships.</a:t>
            </a:r>
          </a:p>
          <a:p>
            <a:pPr marL="0" indent="0">
              <a:buNone/>
            </a:pPr>
            <a:endParaRPr lang="en-IN" dirty="0"/>
          </a:p>
        </p:txBody>
      </p:sp>
    </p:spTree>
    <p:extLst>
      <p:ext uri="{BB962C8B-B14F-4D97-AF65-F5344CB8AC3E}">
        <p14:creationId xmlns:p14="http://schemas.microsoft.com/office/powerpoint/2010/main" val="4263137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EBA56-98DA-299C-BCAC-DB29B1172D67}"/>
              </a:ext>
            </a:extLst>
          </p:cNvPr>
          <p:cNvSpPr>
            <a:spLocks noGrp="1"/>
          </p:cNvSpPr>
          <p:nvPr>
            <p:ph type="title"/>
          </p:nvPr>
        </p:nvSpPr>
        <p:spPr/>
        <p:txBody>
          <a:bodyPr>
            <a:normAutofit/>
          </a:bodyPr>
          <a:lstStyle/>
          <a:p>
            <a:pPr>
              <a:lnSpc>
                <a:spcPct val="100000"/>
              </a:lnSpc>
            </a:pPr>
            <a:r>
              <a:rPr lang="en-IN" b="1" dirty="0">
                <a:solidFill>
                  <a:srgbClr val="0047AB"/>
                </a:solidFill>
                <a:latin typeface="+mn-lt"/>
              </a:rPr>
              <a:t>Executive Summary</a:t>
            </a:r>
          </a:p>
        </p:txBody>
      </p:sp>
      <p:sp>
        <p:nvSpPr>
          <p:cNvPr id="12" name="Rectangle 9">
            <a:extLst>
              <a:ext uri="{FF2B5EF4-FFF2-40B4-BE49-F238E27FC236}">
                <a16:creationId xmlns:a16="http://schemas.microsoft.com/office/drawing/2014/main" id="{DF0FDB02-50D3-2E1E-09D0-0036C9DB31C7}"/>
              </a:ext>
            </a:extLst>
          </p:cNvPr>
          <p:cNvSpPr>
            <a:spLocks noGrp="1" noChangeArrowheads="1"/>
          </p:cNvSpPr>
          <p:nvPr>
            <p:ph idx="1"/>
          </p:nvPr>
        </p:nvSpPr>
        <p:spPr bwMode="auto">
          <a:xfrm>
            <a:off x="838201" y="2877909"/>
            <a:ext cx="10515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Overview of data analysis focusing on ride patterns by user type.</a:t>
            </a: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Key differences observed between casual riders and members.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Actionable recommendations derived from findings.</a:t>
            </a:r>
          </a:p>
        </p:txBody>
      </p:sp>
    </p:spTree>
    <p:extLst>
      <p:ext uri="{BB962C8B-B14F-4D97-AF65-F5344CB8AC3E}">
        <p14:creationId xmlns:p14="http://schemas.microsoft.com/office/powerpoint/2010/main" val="1113748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9F779-35AC-B33D-4ECB-5F3BA389AC6F}"/>
              </a:ext>
            </a:extLst>
          </p:cNvPr>
          <p:cNvSpPr>
            <a:spLocks noGrp="1"/>
          </p:cNvSpPr>
          <p:nvPr>
            <p:ph type="title"/>
          </p:nvPr>
        </p:nvSpPr>
        <p:spPr/>
        <p:txBody>
          <a:bodyPr/>
          <a:lstStyle/>
          <a:p>
            <a:pPr>
              <a:lnSpc>
                <a:spcPct val="100000"/>
              </a:lnSpc>
            </a:pPr>
            <a:r>
              <a:rPr lang="en-IN" b="1" dirty="0">
                <a:solidFill>
                  <a:srgbClr val="00468C"/>
                </a:solidFill>
                <a:latin typeface="+mn-lt"/>
              </a:rPr>
              <a:t>Data Source</a:t>
            </a:r>
            <a:endParaRPr lang="en-IN" b="1" dirty="0">
              <a:latin typeface="+mn-lt"/>
            </a:endParaRPr>
          </a:p>
        </p:txBody>
      </p:sp>
      <p:sp>
        <p:nvSpPr>
          <p:cNvPr id="3" name="Content Placeholder 2">
            <a:extLst>
              <a:ext uri="{FF2B5EF4-FFF2-40B4-BE49-F238E27FC236}">
                <a16:creationId xmlns:a16="http://schemas.microsoft.com/office/drawing/2014/main" id="{12979000-6FF4-8737-75E8-1C2D2362E1F2}"/>
              </a:ext>
            </a:extLst>
          </p:cNvPr>
          <p:cNvSpPr>
            <a:spLocks noGrp="1"/>
          </p:cNvSpPr>
          <p:nvPr>
            <p:ph idx="1"/>
          </p:nvPr>
        </p:nvSpPr>
        <p:spPr/>
        <p:txBody>
          <a:bodyPr>
            <a:normAutofit/>
          </a:bodyPr>
          <a:lstStyle/>
          <a:p>
            <a:pPr marL="0" indent="0">
              <a:lnSpc>
                <a:spcPct val="150000"/>
              </a:lnSpc>
              <a:buNone/>
            </a:pPr>
            <a:r>
              <a:rPr lang="en-IN" b="1" dirty="0">
                <a:effectLst/>
                <a:ea typeface="Aptos" panose="020B0004020202020204" pitchFamily="34" charset="0"/>
                <a:cs typeface="Times New Roman" panose="02020603050405020304" pitchFamily="18" charset="0"/>
              </a:rPr>
              <a:t>The </a:t>
            </a:r>
            <a:r>
              <a:rPr lang="en-IN" b="1" dirty="0">
                <a:ea typeface="Aptos" panose="020B0004020202020204" pitchFamily="34" charset="0"/>
                <a:cs typeface="Times New Roman" panose="02020603050405020304" pitchFamily="18" charset="0"/>
              </a:rPr>
              <a:t>d</a:t>
            </a:r>
            <a:r>
              <a:rPr lang="en-IN" b="1" dirty="0">
                <a:effectLst/>
                <a:ea typeface="Aptos" panose="020B0004020202020204" pitchFamily="34" charset="0"/>
                <a:cs typeface="Times New Roman" panose="02020603050405020304" pitchFamily="18" charset="0"/>
              </a:rPr>
              <a:t>ata was obtained from the </a:t>
            </a:r>
            <a:r>
              <a:rPr lang="en-IN" b="1" u="sng" dirty="0">
                <a:solidFill>
                  <a:srgbClr val="0070C0"/>
                </a:solidFill>
                <a:effectLst/>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Divvy </a:t>
            </a:r>
            <a:r>
              <a:rPr lang="en-IN" b="1" u="sng" dirty="0" err="1">
                <a:solidFill>
                  <a:srgbClr val="0070C0"/>
                </a:solidFill>
                <a:effectLst/>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Tripdata</a:t>
            </a:r>
            <a:r>
              <a:rPr lang="en-IN" b="1" u="sng" dirty="0">
                <a:solidFill>
                  <a:srgbClr val="0070C0"/>
                </a:solidFill>
                <a:effectLst/>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 Archive</a:t>
            </a:r>
            <a:r>
              <a:rPr lang="en-IN" b="1" u="sng" dirty="0">
                <a:ea typeface="Aptos" panose="020B0004020202020204" pitchFamily="34" charset="0"/>
                <a:cs typeface="Times New Roman" panose="02020603050405020304" pitchFamily="18" charset="0"/>
              </a:rPr>
              <a:t>.</a:t>
            </a:r>
          </a:p>
          <a:p>
            <a:pPr marL="0" indent="0">
              <a:lnSpc>
                <a:spcPct val="150000"/>
              </a:lnSpc>
              <a:buNone/>
            </a:pPr>
            <a:r>
              <a:rPr lang="en-IN" b="1" dirty="0">
                <a:ea typeface="Aptos" panose="020B0004020202020204" pitchFamily="34" charset="0"/>
                <a:cs typeface="Times New Roman" panose="02020603050405020304" pitchFamily="18" charset="0"/>
              </a:rPr>
              <a:t>This analysis uses the ‘</a:t>
            </a:r>
            <a:r>
              <a:rPr lang="en-IN" b="1" dirty="0">
                <a:ea typeface="Aptos" panose="020B0004020202020204" pitchFamily="34" charset="0"/>
                <a:cs typeface="Times New Roman" panose="02020603050405020304" pitchFamily="18" charset="0"/>
                <a:hlinkClick r:id="rId3"/>
              </a:rPr>
              <a:t>Divvy Stations Trips 2013</a:t>
            </a:r>
            <a:r>
              <a:rPr lang="en-IN" b="1" dirty="0">
                <a:ea typeface="Aptos" panose="020B0004020202020204" pitchFamily="34" charset="0"/>
                <a:cs typeface="Times New Roman" panose="02020603050405020304" pitchFamily="18" charset="0"/>
              </a:rPr>
              <a:t>‘ dataset, </a:t>
            </a:r>
            <a:r>
              <a:rPr lang="en-US" b="1" dirty="0">
                <a:ea typeface="Aptos" panose="020B0004020202020204" pitchFamily="34" charset="0"/>
                <a:cs typeface="Times New Roman" panose="02020603050405020304" pitchFamily="18" charset="0"/>
              </a:rPr>
              <a:t>which covers the complete ride history for 2013. The public dataset excludes personally identifiable information and has been validated for completeness and accuracy.</a:t>
            </a:r>
            <a:endParaRPr lang="en-IN" b="1"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91204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0A4F7-FA2E-08C6-BB28-DD9D18D134D4}"/>
              </a:ext>
            </a:extLst>
          </p:cNvPr>
          <p:cNvSpPr>
            <a:spLocks noGrp="1"/>
          </p:cNvSpPr>
          <p:nvPr>
            <p:ph type="title"/>
          </p:nvPr>
        </p:nvSpPr>
        <p:spPr/>
        <p:txBody>
          <a:bodyPr>
            <a:normAutofit/>
          </a:bodyPr>
          <a:lstStyle/>
          <a:p>
            <a:pPr>
              <a:lnSpc>
                <a:spcPct val="100000"/>
              </a:lnSpc>
            </a:pPr>
            <a:r>
              <a:rPr lang="en-IN" b="1" dirty="0">
                <a:solidFill>
                  <a:srgbClr val="0047AB"/>
                </a:solidFill>
                <a:latin typeface="+mn-lt"/>
              </a:rPr>
              <a:t>Data Preparation &amp; Processing</a:t>
            </a:r>
          </a:p>
        </p:txBody>
      </p:sp>
      <p:sp>
        <p:nvSpPr>
          <p:cNvPr id="3" name="Content Placeholder 2">
            <a:extLst>
              <a:ext uri="{FF2B5EF4-FFF2-40B4-BE49-F238E27FC236}">
                <a16:creationId xmlns:a16="http://schemas.microsoft.com/office/drawing/2014/main" id="{6DCD5892-C1E4-5C78-4F3C-C3A3BFB4C4DA}"/>
              </a:ext>
            </a:extLst>
          </p:cNvPr>
          <p:cNvSpPr>
            <a:spLocks noGrp="1"/>
          </p:cNvSpPr>
          <p:nvPr>
            <p:ph idx="1"/>
          </p:nvPr>
        </p:nvSpPr>
        <p:spPr/>
        <p:txBody>
          <a:bodyPr>
            <a:noAutofit/>
          </a:bodyPr>
          <a:lstStyle/>
          <a:p>
            <a:pPr marL="0" indent="0">
              <a:lnSpc>
                <a:spcPct val="100000"/>
              </a:lnSpc>
              <a:buNone/>
            </a:pPr>
            <a:r>
              <a:rPr lang="en-IN" b="1" dirty="0"/>
              <a:t>1) Added new calculated fields:</a:t>
            </a:r>
          </a:p>
          <a:p>
            <a:pPr>
              <a:lnSpc>
                <a:spcPct val="100000"/>
              </a:lnSpc>
            </a:pPr>
            <a:r>
              <a:rPr lang="en-US" sz="2000" b="1" dirty="0"/>
              <a:t>Ride length (</a:t>
            </a:r>
            <a:r>
              <a:rPr lang="en-IN" sz="2000" b="1" dirty="0">
                <a:effectLst/>
                <a:ea typeface="Aptos" panose="020B0004020202020204" pitchFamily="34" charset="0"/>
                <a:cs typeface="Times New Roman" panose="02020603050405020304" pitchFamily="18" charset="0"/>
              </a:rPr>
              <a:t>HH:MM:SS)</a:t>
            </a:r>
            <a:endParaRPr lang="en-US" sz="2000" b="1" dirty="0"/>
          </a:p>
          <a:p>
            <a:pPr>
              <a:lnSpc>
                <a:spcPct val="100000"/>
              </a:lnSpc>
            </a:pPr>
            <a:r>
              <a:rPr lang="en-US" sz="2000" b="1" dirty="0"/>
              <a:t>Day of week (</a:t>
            </a:r>
            <a:r>
              <a:rPr lang="en-IN" sz="2000" b="1" dirty="0">
                <a:effectLst/>
                <a:ea typeface="Aptos" panose="020B0004020202020204" pitchFamily="34" charset="0"/>
                <a:cs typeface="Times New Roman" panose="02020603050405020304" pitchFamily="18" charset="0"/>
              </a:rPr>
              <a:t>as numbers 1=Sunday to 7=Saturday)</a:t>
            </a:r>
            <a:endParaRPr lang="en-US" sz="2000" b="1" dirty="0"/>
          </a:p>
          <a:p>
            <a:pPr>
              <a:lnSpc>
                <a:spcPct val="100000"/>
              </a:lnSpc>
            </a:pPr>
            <a:r>
              <a:rPr lang="en-US" sz="2000" b="1" dirty="0"/>
              <a:t>Month</a:t>
            </a:r>
          </a:p>
          <a:p>
            <a:pPr>
              <a:lnSpc>
                <a:spcPct val="100000"/>
              </a:lnSpc>
            </a:pPr>
            <a:r>
              <a:rPr lang="en-US" sz="2000" b="1" dirty="0"/>
              <a:t>Day Name</a:t>
            </a:r>
          </a:p>
          <a:p>
            <a:pPr>
              <a:lnSpc>
                <a:spcPct val="100000"/>
              </a:lnSpc>
            </a:pPr>
            <a:r>
              <a:rPr lang="en-US" sz="2000" b="1" dirty="0"/>
              <a:t>Hour</a:t>
            </a:r>
          </a:p>
          <a:p>
            <a:pPr>
              <a:lnSpc>
                <a:spcPct val="100000"/>
              </a:lnSpc>
            </a:pPr>
            <a:r>
              <a:rPr lang="en-US" sz="2000" b="1" dirty="0"/>
              <a:t>Custom (Ride Duration Bucket)</a:t>
            </a:r>
          </a:p>
          <a:p>
            <a:pPr marL="0" indent="0">
              <a:lnSpc>
                <a:spcPct val="100000"/>
              </a:lnSpc>
              <a:buNone/>
            </a:pPr>
            <a:r>
              <a:rPr lang="en-US" b="1" dirty="0"/>
              <a:t>2) Formatted data to their data types.</a:t>
            </a:r>
          </a:p>
          <a:p>
            <a:pPr marL="0" indent="0">
              <a:lnSpc>
                <a:spcPct val="100000"/>
              </a:lnSpc>
              <a:buNone/>
            </a:pPr>
            <a:r>
              <a:rPr lang="en-US" b="1" dirty="0"/>
              <a:t>3) The data was verified to contain no duplicates.</a:t>
            </a:r>
            <a:endParaRPr lang="en-IN" b="1" dirty="0"/>
          </a:p>
        </p:txBody>
      </p:sp>
    </p:spTree>
    <p:extLst>
      <p:ext uri="{BB962C8B-B14F-4D97-AF65-F5344CB8AC3E}">
        <p14:creationId xmlns:p14="http://schemas.microsoft.com/office/powerpoint/2010/main" val="1256815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6FD2F6-DDF4-C484-DD20-B29A7A18FB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260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59E4A-8E8F-3E0D-C203-379025B36054}"/>
              </a:ext>
            </a:extLst>
          </p:cNvPr>
          <p:cNvSpPr>
            <a:spLocks noGrp="1"/>
          </p:cNvSpPr>
          <p:nvPr>
            <p:ph type="title"/>
          </p:nvPr>
        </p:nvSpPr>
        <p:spPr/>
        <p:txBody>
          <a:bodyPr/>
          <a:lstStyle/>
          <a:p>
            <a:pPr>
              <a:lnSpc>
                <a:spcPct val="100000"/>
              </a:lnSpc>
            </a:pPr>
            <a:r>
              <a:rPr lang="en-IN" b="1" dirty="0">
                <a:solidFill>
                  <a:srgbClr val="0047AB"/>
                </a:solidFill>
                <a:latin typeface="+mn-lt"/>
              </a:rPr>
              <a:t>Observed Trends / Key Insights:</a:t>
            </a:r>
          </a:p>
        </p:txBody>
      </p:sp>
      <p:sp>
        <p:nvSpPr>
          <p:cNvPr id="3" name="Content Placeholder 2">
            <a:extLst>
              <a:ext uri="{FF2B5EF4-FFF2-40B4-BE49-F238E27FC236}">
                <a16:creationId xmlns:a16="http://schemas.microsoft.com/office/drawing/2014/main" id="{0FB41A83-C06F-3D42-FB6A-F53322F96FEB}"/>
              </a:ext>
            </a:extLst>
          </p:cNvPr>
          <p:cNvSpPr>
            <a:spLocks noGrp="1"/>
          </p:cNvSpPr>
          <p:nvPr>
            <p:ph idx="1"/>
          </p:nvPr>
        </p:nvSpPr>
        <p:spPr/>
        <p:txBody>
          <a:bodyPr>
            <a:normAutofit/>
          </a:bodyPr>
          <a:lstStyle/>
          <a:p>
            <a:pPr>
              <a:lnSpc>
                <a:spcPct val="100000"/>
              </a:lnSpc>
            </a:pPr>
            <a:r>
              <a:rPr lang="en-US" b="1" dirty="0"/>
              <a:t>Total Number of Rides	:	759788.</a:t>
            </a:r>
            <a:endParaRPr lang="en-IN" b="1" dirty="0"/>
          </a:p>
        </p:txBody>
      </p:sp>
    </p:spTree>
    <p:extLst>
      <p:ext uri="{BB962C8B-B14F-4D97-AF65-F5344CB8AC3E}">
        <p14:creationId xmlns:p14="http://schemas.microsoft.com/office/powerpoint/2010/main" val="1761112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CA31B8-E2DD-29F3-1757-C79CF8AFE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4010896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DE50-63BB-3F02-612A-D584C7BEEB35}"/>
              </a:ext>
            </a:extLst>
          </p:cNvPr>
          <p:cNvSpPr>
            <a:spLocks noGrp="1"/>
          </p:cNvSpPr>
          <p:nvPr>
            <p:ph type="title"/>
          </p:nvPr>
        </p:nvSpPr>
        <p:spPr/>
        <p:txBody>
          <a:bodyPr/>
          <a:lstStyle/>
          <a:p>
            <a:pPr>
              <a:lnSpc>
                <a:spcPct val="100000"/>
              </a:lnSpc>
            </a:pPr>
            <a:r>
              <a:rPr lang="en-IN" b="1" dirty="0">
                <a:solidFill>
                  <a:srgbClr val="0047AB"/>
                </a:solidFill>
                <a:latin typeface="+mn-lt"/>
              </a:rPr>
              <a:t>Observed Trends / Key Insights:</a:t>
            </a:r>
            <a:endParaRPr lang="en-IN" dirty="0"/>
          </a:p>
        </p:txBody>
      </p:sp>
      <p:sp>
        <p:nvSpPr>
          <p:cNvPr id="3" name="Content Placeholder 2">
            <a:extLst>
              <a:ext uri="{FF2B5EF4-FFF2-40B4-BE49-F238E27FC236}">
                <a16:creationId xmlns:a16="http://schemas.microsoft.com/office/drawing/2014/main" id="{AC7B20AB-6BB5-76A5-73A2-B60D992C57B3}"/>
              </a:ext>
            </a:extLst>
          </p:cNvPr>
          <p:cNvSpPr>
            <a:spLocks noGrp="1"/>
          </p:cNvSpPr>
          <p:nvPr>
            <p:ph idx="1"/>
          </p:nvPr>
        </p:nvSpPr>
        <p:spPr/>
        <p:txBody>
          <a:bodyPr/>
          <a:lstStyle/>
          <a:p>
            <a:pPr>
              <a:lnSpc>
                <a:spcPct val="100000"/>
              </a:lnSpc>
            </a:pPr>
            <a:r>
              <a:rPr lang="en-US" b="1" dirty="0"/>
              <a:t>Customer ride length	:	~ 30 minutes per ride.</a:t>
            </a:r>
          </a:p>
          <a:p>
            <a:pPr>
              <a:lnSpc>
                <a:spcPct val="100000"/>
              </a:lnSpc>
            </a:pPr>
            <a:endParaRPr lang="en-US" b="1" dirty="0"/>
          </a:p>
          <a:p>
            <a:pPr>
              <a:lnSpc>
                <a:spcPct val="100000"/>
              </a:lnSpc>
            </a:pPr>
            <a:r>
              <a:rPr lang="en-US" b="1" dirty="0"/>
              <a:t>Subscriber ride length	:	~ 12 minutes per ride.</a:t>
            </a:r>
            <a:endParaRPr lang="en-IN" b="1" dirty="0"/>
          </a:p>
        </p:txBody>
      </p:sp>
    </p:spTree>
    <p:extLst>
      <p:ext uri="{BB962C8B-B14F-4D97-AF65-F5344CB8AC3E}">
        <p14:creationId xmlns:p14="http://schemas.microsoft.com/office/powerpoint/2010/main" val="3812225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9F4969-467D-F565-9F74-E135477FB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8892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32899-08E8-BA9A-9754-B4387AE274BB}"/>
              </a:ext>
            </a:extLst>
          </p:cNvPr>
          <p:cNvSpPr>
            <a:spLocks noGrp="1"/>
          </p:cNvSpPr>
          <p:nvPr>
            <p:ph type="title"/>
          </p:nvPr>
        </p:nvSpPr>
        <p:spPr/>
        <p:txBody>
          <a:bodyPr/>
          <a:lstStyle/>
          <a:p>
            <a:pPr>
              <a:lnSpc>
                <a:spcPct val="100000"/>
              </a:lnSpc>
            </a:pPr>
            <a:r>
              <a:rPr lang="en-IN" b="1" dirty="0">
                <a:solidFill>
                  <a:srgbClr val="0047AB"/>
                </a:solidFill>
                <a:latin typeface="+mn-lt"/>
              </a:rPr>
              <a:t>Observed Trends / Key Insights:</a:t>
            </a:r>
            <a:endParaRPr lang="en-IN" dirty="0"/>
          </a:p>
        </p:txBody>
      </p:sp>
      <p:sp>
        <p:nvSpPr>
          <p:cNvPr id="3" name="Content Placeholder 2">
            <a:extLst>
              <a:ext uri="{FF2B5EF4-FFF2-40B4-BE49-F238E27FC236}">
                <a16:creationId xmlns:a16="http://schemas.microsoft.com/office/drawing/2014/main" id="{7BBEA047-9D0C-97FD-124D-E6DF57749A7E}"/>
              </a:ext>
            </a:extLst>
          </p:cNvPr>
          <p:cNvSpPr>
            <a:spLocks noGrp="1"/>
          </p:cNvSpPr>
          <p:nvPr>
            <p:ph idx="1"/>
          </p:nvPr>
        </p:nvSpPr>
        <p:spPr/>
        <p:txBody>
          <a:bodyPr/>
          <a:lstStyle/>
          <a:p>
            <a:pPr>
              <a:lnSpc>
                <a:spcPct val="100000"/>
              </a:lnSpc>
            </a:pPr>
            <a:r>
              <a:rPr lang="en-US" b="1" dirty="0"/>
              <a:t>Customers’ average weekly ride length	:</a:t>
            </a:r>
          </a:p>
          <a:p>
            <a:pPr marL="0" indent="0">
              <a:lnSpc>
                <a:spcPct val="100000"/>
              </a:lnSpc>
              <a:buNone/>
            </a:pPr>
            <a:r>
              <a:rPr lang="en-US" b="1" dirty="0"/>
              <a:t>~ 27 to 32 minutes per ride.</a:t>
            </a:r>
          </a:p>
          <a:p>
            <a:pPr>
              <a:lnSpc>
                <a:spcPct val="100000"/>
              </a:lnSpc>
            </a:pPr>
            <a:endParaRPr lang="en-US" b="1" dirty="0"/>
          </a:p>
          <a:p>
            <a:pPr>
              <a:lnSpc>
                <a:spcPct val="100000"/>
              </a:lnSpc>
            </a:pPr>
            <a:r>
              <a:rPr lang="en-US" b="1" dirty="0"/>
              <a:t>Subscribers’ average weekly ride length	:</a:t>
            </a:r>
          </a:p>
          <a:p>
            <a:pPr marL="0" indent="0">
              <a:lnSpc>
                <a:spcPct val="100000"/>
              </a:lnSpc>
              <a:buNone/>
            </a:pPr>
            <a:r>
              <a:rPr lang="en-US" b="1" dirty="0"/>
              <a:t>~ 11 to 13 minutes per ride.</a:t>
            </a:r>
            <a:endParaRPr lang="en-IN" b="1" dirty="0"/>
          </a:p>
        </p:txBody>
      </p:sp>
    </p:spTree>
    <p:extLst>
      <p:ext uri="{BB962C8B-B14F-4D97-AF65-F5344CB8AC3E}">
        <p14:creationId xmlns:p14="http://schemas.microsoft.com/office/powerpoint/2010/main" val="4064378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A9AE5D-353D-27E0-C934-249D365B2A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95954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0848E-F027-C658-566F-88782F81C269}"/>
              </a:ext>
            </a:extLst>
          </p:cNvPr>
          <p:cNvSpPr>
            <a:spLocks noGrp="1"/>
          </p:cNvSpPr>
          <p:nvPr>
            <p:ph type="title"/>
          </p:nvPr>
        </p:nvSpPr>
        <p:spPr/>
        <p:txBody>
          <a:bodyPr/>
          <a:lstStyle/>
          <a:p>
            <a:pPr>
              <a:lnSpc>
                <a:spcPct val="100000"/>
              </a:lnSpc>
            </a:pPr>
            <a:r>
              <a:rPr lang="en-IN" b="1" dirty="0">
                <a:solidFill>
                  <a:srgbClr val="0047AB"/>
                </a:solidFill>
                <a:latin typeface="+mn-lt"/>
              </a:rPr>
              <a:t>Observed Trends / Key Insights:</a:t>
            </a:r>
            <a:endParaRPr lang="en-IN" dirty="0"/>
          </a:p>
        </p:txBody>
      </p:sp>
      <p:sp>
        <p:nvSpPr>
          <p:cNvPr id="3" name="Content Placeholder 2">
            <a:extLst>
              <a:ext uri="{FF2B5EF4-FFF2-40B4-BE49-F238E27FC236}">
                <a16:creationId xmlns:a16="http://schemas.microsoft.com/office/drawing/2014/main" id="{8FF5CA76-0759-2B0A-E477-6EF13D4F24B3}"/>
              </a:ext>
            </a:extLst>
          </p:cNvPr>
          <p:cNvSpPr>
            <a:spLocks noGrp="1"/>
          </p:cNvSpPr>
          <p:nvPr>
            <p:ph idx="1"/>
          </p:nvPr>
        </p:nvSpPr>
        <p:spPr/>
        <p:txBody>
          <a:bodyPr/>
          <a:lstStyle/>
          <a:p>
            <a:pPr>
              <a:lnSpc>
                <a:spcPct val="100000"/>
              </a:lnSpc>
            </a:pPr>
            <a:r>
              <a:rPr lang="en-US" b="1" dirty="0"/>
              <a:t>The months of August, September, and October had the most number of rides, over 100,000 rides.</a:t>
            </a:r>
            <a:endParaRPr lang="en-IN" b="1" dirty="0"/>
          </a:p>
        </p:txBody>
      </p:sp>
    </p:spTree>
    <p:extLst>
      <p:ext uri="{BB962C8B-B14F-4D97-AF65-F5344CB8AC3E}">
        <p14:creationId xmlns:p14="http://schemas.microsoft.com/office/powerpoint/2010/main" val="3370973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F30CB9-E93A-0478-5648-E668F8A9D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extLst>
      <p:ext uri="{BB962C8B-B14F-4D97-AF65-F5344CB8AC3E}">
        <p14:creationId xmlns:p14="http://schemas.microsoft.com/office/powerpoint/2010/main" val="956995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94416-0D75-0390-D192-159E923E106F}"/>
              </a:ext>
            </a:extLst>
          </p:cNvPr>
          <p:cNvSpPr>
            <a:spLocks noGrp="1"/>
          </p:cNvSpPr>
          <p:nvPr>
            <p:ph type="title"/>
          </p:nvPr>
        </p:nvSpPr>
        <p:spPr/>
        <p:txBody>
          <a:bodyPr/>
          <a:lstStyle/>
          <a:p>
            <a:pPr>
              <a:lnSpc>
                <a:spcPct val="100000"/>
              </a:lnSpc>
            </a:pPr>
            <a:r>
              <a:rPr lang="en-IN" b="1" dirty="0">
                <a:solidFill>
                  <a:srgbClr val="0047AB"/>
                </a:solidFill>
                <a:latin typeface="+mn-lt"/>
              </a:rPr>
              <a:t>Observed Trends / Key Insights:</a:t>
            </a:r>
            <a:endParaRPr lang="en-IN" dirty="0"/>
          </a:p>
        </p:txBody>
      </p:sp>
      <p:sp>
        <p:nvSpPr>
          <p:cNvPr id="3" name="Content Placeholder 2">
            <a:extLst>
              <a:ext uri="{FF2B5EF4-FFF2-40B4-BE49-F238E27FC236}">
                <a16:creationId xmlns:a16="http://schemas.microsoft.com/office/drawing/2014/main" id="{D2A93CE9-0507-369B-92A6-8DFABCD29BC5}"/>
              </a:ext>
            </a:extLst>
          </p:cNvPr>
          <p:cNvSpPr>
            <a:spLocks noGrp="1"/>
          </p:cNvSpPr>
          <p:nvPr>
            <p:ph idx="1"/>
          </p:nvPr>
        </p:nvSpPr>
        <p:spPr/>
        <p:txBody>
          <a:bodyPr/>
          <a:lstStyle/>
          <a:p>
            <a:pPr>
              <a:lnSpc>
                <a:spcPct val="100000"/>
              </a:lnSpc>
            </a:pPr>
            <a:r>
              <a:rPr lang="en-US" b="1" dirty="0"/>
              <a:t>Casual rides are higher than subscriber rides between July and September.</a:t>
            </a:r>
          </a:p>
          <a:p>
            <a:pPr>
              <a:lnSpc>
                <a:spcPct val="100000"/>
              </a:lnSpc>
            </a:pPr>
            <a:endParaRPr lang="en-US" b="1" dirty="0"/>
          </a:p>
          <a:p>
            <a:pPr>
              <a:lnSpc>
                <a:spcPct val="100000"/>
              </a:lnSpc>
            </a:pPr>
            <a:r>
              <a:rPr lang="en-US" b="1" dirty="0"/>
              <a:t>Subscriber rides are higher than casual rides between October and December.</a:t>
            </a:r>
            <a:endParaRPr lang="en-IN" b="1" dirty="0"/>
          </a:p>
        </p:txBody>
      </p:sp>
    </p:spTree>
    <p:extLst>
      <p:ext uri="{BB962C8B-B14F-4D97-AF65-F5344CB8AC3E}">
        <p14:creationId xmlns:p14="http://schemas.microsoft.com/office/powerpoint/2010/main" val="2101622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714569-496C-EC05-DC57-ED2C721367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933115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F4EFE-76B0-26A3-6E01-DEF60657BC32}"/>
              </a:ext>
            </a:extLst>
          </p:cNvPr>
          <p:cNvSpPr>
            <a:spLocks noGrp="1"/>
          </p:cNvSpPr>
          <p:nvPr>
            <p:ph type="title"/>
          </p:nvPr>
        </p:nvSpPr>
        <p:spPr/>
        <p:txBody>
          <a:bodyPr/>
          <a:lstStyle/>
          <a:p>
            <a:pPr>
              <a:lnSpc>
                <a:spcPct val="100000"/>
              </a:lnSpc>
            </a:pPr>
            <a:r>
              <a:rPr lang="en-IN" b="1" dirty="0">
                <a:solidFill>
                  <a:srgbClr val="0047AB"/>
                </a:solidFill>
                <a:latin typeface="+mn-lt"/>
              </a:rPr>
              <a:t>Observed Trends / Key Insights:</a:t>
            </a:r>
            <a:endParaRPr lang="en-IN" dirty="0"/>
          </a:p>
        </p:txBody>
      </p:sp>
      <p:sp>
        <p:nvSpPr>
          <p:cNvPr id="3" name="Content Placeholder 2">
            <a:extLst>
              <a:ext uri="{FF2B5EF4-FFF2-40B4-BE49-F238E27FC236}">
                <a16:creationId xmlns:a16="http://schemas.microsoft.com/office/drawing/2014/main" id="{3DBBA6DE-5F4D-A889-74C5-BCB3B1FB8150}"/>
              </a:ext>
            </a:extLst>
          </p:cNvPr>
          <p:cNvSpPr>
            <a:spLocks noGrp="1"/>
          </p:cNvSpPr>
          <p:nvPr>
            <p:ph idx="1"/>
          </p:nvPr>
        </p:nvSpPr>
        <p:spPr/>
        <p:txBody>
          <a:bodyPr/>
          <a:lstStyle/>
          <a:p>
            <a:pPr>
              <a:lnSpc>
                <a:spcPct val="100000"/>
              </a:lnSpc>
            </a:pPr>
            <a:r>
              <a:rPr lang="en-US" b="1" dirty="0"/>
              <a:t>Casual customers have a high volume of bike rides during the weekends. This suggests that casual bike rides could be for leisure or for tourism purposes.</a:t>
            </a:r>
          </a:p>
          <a:p>
            <a:pPr>
              <a:lnSpc>
                <a:spcPct val="100000"/>
              </a:lnSpc>
            </a:pPr>
            <a:endParaRPr lang="en-US" b="1" dirty="0"/>
          </a:p>
          <a:p>
            <a:pPr>
              <a:lnSpc>
                <a:spcPct val="100000"/>
              </a:lnSpc>
            </a:pPr>
            <a:r>
              <a:rPr lang="en-US" b="1" dirty="0"/>
              <a:t>Members or subscribers have a high volume of bike rides during the weekdays. This suggests that they are regular commuters who are either students or go to work.</a:t>
            </a:r>
            <a:endParaRPr lang="en-IN" b="1" dirty="0"/>
          </a:p>
        </p:txBody>
      </p:sp>
    </p:spTree>
    <p:extLst>
      <p:ext uri="{BB962C8B-B14F-4D97-AF65-F5344CB8AC3E}">
        <p14:creationId xmlns:p14="http://schemas.microsoft.com/office/powerpoint/2010/main" val="4236703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A0248A-7C39-D7FC-0A0C-1A9C29F503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86288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6B2AF-592C-D8F7-033C-5951F92EBF4D}"/>
              </a:ext>
            </a:extLst>
          </p:cNvPr>
          <p:cNvSpPr>
            <a:spLocks noGrp="1"/>
          </p:cNvSpPr>
          <p:nvPr>
            <p:ph type="title"/>
          </p:nvPr>
        </p:nvSpPr>
        <p:spPr/>
        <p:txBody>
          <a:bodyPr/>
          <a:lstStyle/>
          <a:p>
            <a:pPr>
              <a:lnSpc>
                <a:spcPct val="100000"/>
              </a:lnSpc>
            </a:pPr>
            <a:r>
              <a:rPr lang="en-IN" b="1" dirty="0">
                <a:solidFill>
                  <a:srgbClr val="0047AB"/>
                </a:solidFill>
                <a:latin typeface="+mn-lt"/>
              </a:rPr>
              <a:t>Observed Trends / Key Insights:</a:t>
            </a:r>
            <a:endParaRPr lang="en-IN" dirty="0"/>
          </a:p>
        </p:txBody>
      </p:sp>
      <p:sp>
        <p:nvSpPr>
          <p:cNvPr id="3" name="Content Placeholder 2">
            <a:extLst>
              <a:ext uri="{FF2B5EF4-FFF2-40B4-BE49-F238E27FC236}">
                <a16:creationId xmlns:a16="http://schemas.microsoft.com/office/drawing/2014/main" id="{98229941-0320-A0A2-6977-F8D90F329EA5}"/>
              </a:ext>
            </a:extLst>
          </p:cNvPr>
          <p:cNvSpPr>
            <a:spLocks noGrp="1"/>
          </p:cNvSpPr>
          <p:nvPr>
            <p:ph idx="1"/>
          </p:nvPr>
        </p:nvSpPr>
        <p:spPr/>
        <p:txBody>
          <a:bodyPr/>
          <a:lstStyle/>
          <a:p>
            <a:pPr>
              <a:lnSpc>
                <a:spcPct val="100000"/>
              </a:lnSpc>
            </a:pPr>
            <a:r>
              <a:rPr lang="en-US" b="1" dirty="0"/>
              <a:t>For casual customers:</a:t>
            </a:r>
          </a:p>
          <a:p>
            <a:pPr marL="0" indent="0">
              <a:lnSpc>
                <a:spcPct val="100000"/>
              </a:lnSpc>
              <a:buNone/>
            </a:pPr>
            <a:r>
              <a:rPr lang="en-US" b="1" dirty="0"/>
              <a:t>The number of rides peaks between 1 and 5 pm.</a:t>
            </a:r>
          </a:p>
          <a:p>
            <a:pPr>
              <a:lnSpc>
                <a:spcPct val="100000"/>
              </a:lnSpc>
            </a:pPr>
            <a:endParaRPr lang="en-US" b="1" dirty="0"/>
          </a:p>
          <a:p>
            <a:pPr>
              <a:lnSpc>
                <a:spcPct val="100000"/>
              </a:lnSpc>
            </a:pPr>
            <a:r>
              <a:rPr lang="en-US" b="1" dirty="0"/>
              <a:t>For subscribers:</a:t>
            </a:r>
          </a:p>
          <a:p>
            <a:pPr marL="0" indent="0">
              <a:lnSpc>
                <a:spcPct val="100000"/>
              </a:lnSpc>
              <a:buNone/>
            </a:pPr>
            <a:r>
              <a:rPr lang="en-US" b="1" dirty="0"/>
              <a:t>The number of rides peaks between 7 and 9 am and again between 3 and 7 pm. This supports the postulation that subscribers are regular commuters—likely students or working professionals.</a:t>
            </a:r>
            <a:endParaRPr lang="en-IN" b="1" dirty="0"/>
          </a:p>
        </p:txBody>
      </p:sp>
    </p:spTree>
    <p:extLst>
      <p:ext uri="{BB962C8B-B14F-4D97-AF65-F5344CB8AC3E}">
        <p14:creationId xmlns:p14="http://schemas.microsoft.com/office/powerpoint/2010/main" val="952831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18EF40-1EFA-6D88-270E-9140C33E31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521648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86B2E-BA20-7713-22B4-99F157727350}"/>
              </a:ext>
            </a:extLst>
          </p:cNvPr>
          <p:cNvSpPr>
            <a:spLocks noGrp="1"/>
          </p:cNvSpPr>
          <p:nvPr>
            <p:ph type="title"/>
          </p:nvPr>
        </p:nvSpPr>
        <p:spPr/>
        <p:txBody>
          <a:bodyPr/>
          <a:lstStyle/>
          <a:p>
            <a:pPr>
              <a:lnSpc>
                <a:spcPct val="100000"/>
              </a:lnSpc>
            </a:pPr>
            <a:r>
              <a:rPr lang="en-IN" b="1" dirty="0">
                <a:solidFill>
                  <a:srgbClr val="0047AB"/>
                </a:solidFill>
                <a:latin typeface="+mn-lt"/>
              </a:rPr>
              <a:t>Observed Trends / Key Insights:</a:t>
            </a:r>
            <a:endParaRPr lang="en-IN" dirty="0"/>
          </a:p>
        </p:txBody>
      </p:sp>
      <p:sp>
        <p:nvSpPr>
          <p:cNvPr id="3" name="Content Placeholder 2">
            <a:extLst>
              <a:ext uri="{FF2B5EF4-FFF2-40B4-BE49-F238E27FC236}">
                <a16:creationId xmlns:a16="http://schemas.microsoft.com/office/drawing/2014/main" id="{51F80D79-1B2B-54B0-5428-CFDC9215833B}"/>
              </a:ext>
            </a:extLst>
          </p:cNvPr>
          <p:cNvSpPr>
            <a:spLocks noGrp="1"/>
          </p:cNvSpPr>
          <p:nvPr>
            <p:ph idx="1"/>
          </p:nvPr>
        </p:nvSpPr>
        <p:spPr/>
        <p:txBody>
          <a:bodyPr/>
          <a:lstStyle/>
          <a:p>
            <a:pPr>
              <a:lnSpc>
                <a:spcPct val="100000"/>
              </a:lnSpc>
            </a:pPr>
            <a:r>
              <a:rPr lang="en-US" b="1" dirty="0"/>
              <a:t>For casual riders, most rides last between 15 and 30 minutes, with the second-most common trend being rides over 60 minutes. This suggests that casual riders likely use the service for sightseeing or tourism around the city.</a:t>
            </a:r>
          </a:p>
          <a:p>
            <a:pPr>
              <a:lnSpc>
                <a:spcPct val="100000"/>
              </a:lnSpc>
            </a:pPr>
            <a:endParaRPr lang="en-US" b="1" dirty="0"/>
          </a:p>
          <a:p>
            <a:pPr>
              <a:lnSpc>
                <a:spcPct val="100000"/>
              </a:lnSpc>
            </a:pPr>
            <a:r>
              <a:rPr lang="en-US" b="1" dirty="0"/>
              <a:t>For subscribers, the majority of rides are under 10 minutes, followed by rides lasting 10 to 30 minutes.</a:t>
            </a:r>
            <a:endParaRPr lang="en-IN" b="1" dirty="0"/>
          </a:p>
        </p:txBody>
      </p:sp>
    </p:spTree>
    <p:extLst>
      <p:ext uri="{BB962C8B-B14F-4D97-AF65-F5344CB8AC3E}">
        <p14:creationId xmlns:p14="http://schemas.microsoft.com/office/powerpoint/2010/main" val="3536529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35D1E-C0A9-A2B6-C46C-BC24193DE5F3}"/>
              </a:ext>
            </a:extLst>
          </p:cNvPr>
          <p:cNvSpPr>
            <a:spLocks noGrp="1"/>
          </p:cNvSpPr>
          <p:nvPr>
            <p:ph type="title"/>
          </p:nvPr>
        </p:nvSpPr>
        <p:spPr/>
        <p:txBody>
          <a:bodyPr/>
          <a:lstStyle/>
          <a:p>
            <a:pPr>
              <a:lnSpc>
                <a:spcPct val="100000"/>
              </a:lnSpc>
            </a:pPr>
            <a:r>
              <a:rPr lang="en-US" b="1" dirty="0">
                <a:solidFill>
                  <a:srgbClr val="0047AB"/>
                </a:solidFill>
                <a:latin typeface="+mn-lt"/>
              </a:rPr>
              <a:t>Key Finding #1: Ride Duration</a:t>
            </a:r>
            <a:endParaRPr lang="en-IN" b="1" dirty="0">
              <a:solidFill>
                <a:srgbClr val="0047AB"/>
              </a:solidFill>
              <a:latin typeface="+mn-lt"/>
            </a:endParaRPr>
          </a:p>
        </p:txBody>
      </p:sp>
      <p:sp>
        <p:nvSpPr>
          <p:cNvPr id="4" name="Rectangle 1">
            <a:extLst>
              <a:ext uri="{FF2B5EF4-FFF2-40B4-BE49-F238E27FC236}">
                <a16:creationId xmlns:a16="http://schemas.microsoft.com/office/drawing/2014/main" id="{AF27B8B1-B16A-93AB-7552-AC5834E7F6B1}"/>
              </a:ext>
            </a:extLst>
          </p:cNvPr>
          <p:cNvSpPr>
            <a:spLocks noGrp="1" noChangeArrowheads="1"/>
          </p:cNvSpPr>
          <p:nvPr>
            <p:ph idx="1"/>
          </p:nvPr>
        </p:nvSpPr>
        <p:spPr bwMode="auto">
          <a:xfrm>
            <a:off x="838200" y="2877911"/>
            <a:ext cx="10515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Casual users	: ~ 30 min per ride</a:t>
            </a: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Members		: ~ 12 min per ride</a:t>
            </a:r>
            <a:endParaRPr lang="en-US" altLang="en-US" b="1"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Insight		: Leisure vs. commute behavior</a:t>
            </a:r>
          </a:p>
        </p:txBody>
      </p:sp>
    </p:spTree>
    <p:extLst>
      <p:ext uri="{BB962C8B-B14F-4D97-AF65-F5344CB8AC3E}">
        <p14:creationId xmlns:p14="http://schemas.microsoft.com/office/powerpoint/2010/main" val="42181595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11664-7BC2-6A5D-920C-E7A60A59D1A1}"/>
              </a:ext>
            </a:extLst>
          </p:cNvPr>
          <p:cNvSpPr>
            <a:spLocks noGrp="1"/>
          </p:cNvSpPr>
          <p:nvPr>
            <p:ph type="title"/>
          </p:nvPr>
        </p:nvSpPr>
        <p:spPr/>
        <p:txBody>
          <a:bodyPr/>
          <a:lstStyle/>
          <a:p>
            <a:pPr>
              <a:lnSpc>
                <a:spcPct val="100000"/>
              </a:lnSpc>
            </a:pPr>
            <a:r>
              <a:rPr lang="en-US" b="1" dirty="0">
                <a:solidFill>
                  <a:srgbClr val="0047AB"/>
                </a:solidFill>
                <a:latin typeface="+mn-lt"/>
              </a:rPr>
              <a:t>Key Finding #2: Weekly Usage Patterns</a:t>
            </a:r>
            <a:endParaRPr lang="en-IN" b="1" dirty="0">
              <a:solidFill>
                <a:srgbClr val="0047AB"/>
              </a:solidFill>
              <a:latin typeface="+mn-lt"/>
            </a:endParaRPr>
          </a:p>
        </p:txBody>
      </p:sp>
      <p:sp>
        <p:nvSpPr>
          <p:cNvPr id="4" name="Rectangle 1">
            <a:extLst>
              <a:ext uri="{FF2B5EF4-FFF2-40B4-BE49-F238E27FC236}">
                <a16:creationId xmlns:a16="http://schemas.microsoft.com/office/drawing/2014/main" id="{7C498949-019C-891D-37C8-8ABF8FB4A416}"/>
              </a:ext>
            </a:extLst>
          </p:cNvPr>
          <p:cNvSpPr>
            <a:spLocks noGrp="1" noChangeArrowheads="1"/>
          </p:cNvSpPr>
          <p:nvPr>
            <p:ph idx="1"/>
          </p:nvPr>
        </p:nvSpPr>
        <p:spPr bwMode="auto">
          <a:xfrm>
            <a:off x="838199" y="2877911"/>
            <a:ext cx="1051559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Casual users	: Peak on weekends (esp. Saturday)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Members		: Peak on weekdays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Insight		: Leisure-driven vs. commuter patterns</a:t>
            </a:r>
          </a:p>
        </p:txBody>
      </p:sp>
    </p:spTree>
    <p:extLst>
      <p:ext uri="{BB962C8B-B14F-4D97-AF65-F5344CB8AC3E}">
        <p14:creationId xmlns:p14="http://schemas.microsoft.com/office/powerpoint/2010/main" val="2524527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21A85-C69B-D171-DD6A-971339B5CBA8}"/>
              </a:ext>
            </a:extLst>
          </p:cNvPr>
          <p:cNvSpPr>
            <a:spLocks noGrp="1"/>
          </p:cNvSpPr>
          <p:nvPr>
            <p:ph type="title"/>
          </p:nvPr>
        </p:nvSpPr>
        <p:spPr/>
        <p:txBody>
          <a:bodyPr/>
          <a:lstStyle/>
          <a:p>
            <a:pPr>
              <a:lnSpc>
                <a:spcPct val="100000"/>
              </a:lnSpc>
            </a:pPr>
            <a:r>
              <a:rPr lang="en-US" b="1" dirty="0">
                <a:solidFill>
                  <a:srgbClr val="0047AB"/>
                </a:solidFill>
                <a:latin typeface="+mn-lt"/>
              </a:rPr>
              <a:t>Key Finding #3: Hourly Trends</a:t>
            </a:r>
            <a:endParaRPr lang="en-IN" b="1" dirty="0">
              <a:solidFill>
                <a:srgbClr val="0047AB"/>
              </a:solidFill>
              <a:latin typeface="+mn-lt"/>
            </a:endParaRPr>
          </a:p>
        </p:txBody>
      </p:sp>
      <p:sp>
        <p:nvSpPr>
          <p:cNvPr id="4" name="Rectangle 1">
            <a:extLst>
              <a:ext uri="{FF2B5EF4-FFF2-40B4-BE49-F238E27FC236}">
                <a16:creationId xmlns:a16="http://schemas.microsoft.com/office/drawing/2014/main" id="{4DC3BE39-1EB2-04C2-B927-27182192F57C}"/>
              </a:ext>
            </a:extLst>
          </p:cNvPr>
          <p:cNvSpPr>
            <a:spLocks noGrp="1" noChangeArrowheads="1"/>
          </p:cNvSpPr>
          <p:nvPr>
            <p:ph idx="1"/>
          </p:nvPr>
        </p:nvSpPr>
        <p:spPr bwMode="auto">
          <a:xfrm>
            <a:off x="838200" y="2877910"/>
            <a:ext cx="10515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Casual users 	: Peak during midday and evenings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Members		: Peak at 7 </a:t>
            </a:r>
            <a:r>
              <a:rPr lang="en-US" altLang="en-US" b="1" dirty="0"/>
              <a:t>to </a:t>
            </a:r>
            <a:r>
              <a:rPr kumimoji="0" lang="en-US" altLang="en-US" b="1" i="0" u="none" strike="noStrike" cap="none" normalizeH="0" baseline="0" dirty="0">
                <a:ln>
                  <a:noFill/>
                </a:ln>
                <a:solidFill>
                  <a:schemeClr val="tx1"/>
                </a:solidFill>
                <a:effectLst/>
              </a:rPr>
              <a:t>9 am &amp; 3</a:t>
            </a:r>
            <a:r>
              <a:rPr lang="en-US" altLang="en-US" b="1" dirty="0"/>
              <a:t> to </a:t>
            </a:r>
            <a:r>
              <a:rPr kumimoji="0" lang="en-US" altLang="en-US" b="1" i="0" u="none" strike="noStrike" cap="none" normalizeH="0" baseline="0" dirty="0">
                <a:ln>
                  <a:noFill/>
                </a:ln>
                <a:solidFill>
                  <a:schemeClr val="tx1"/>
                </a:solidFill>
                <a:effectLst/>
              </a:rPr>
              <a:t>7 pm</a:t>
            </a:r>
            <a:endParaRPr lang="en-US" altLang="en-US" b="1"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Insight		: </a:t>
            </a:r>
            <a:r>
              <a:rPr lang="en-US" altLang="en-US" b="1" dirty="0"/>
              <a:t>L</a:t>
            </a:r>
            <a:r>
              <a:rPr kumimoji="0" lang="en-US" altLang="en-US" b="1" i="0" u="none" strike="noStrike" cap="none" normalizeH="0" baseline="0" dirty="0">
                <a:ln>
                  <a:noFill/>
                </a:ln>
                <a:solidFill>
                  <a:schemeClr val="tx1"/>
                </a:solidFill>
                <a:effectLst/>
              </a:rPr>
              <a:t>eisure use vs. work commutes</a:t>
            </a:r>
          </a:p>
        </p:txBody>
      </p:sp>
    </p:spTree>
    <p:extLst>
      <p:ext uri="{BB962C8B-B14F-4D97-AF65-F5344CB8AC3E}">
        <p14:creationId xmlns:p14="http://schemas.microsoft.com/office/powerpoint/2010/main" val="651446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1225C-A0DD-376B-EEC2-BE7E454E5F5F}"/>
              </a:ext>
            </a:extLst>
          </p:cNvPr>
          <p:cNvSpPr>
            <a:spLocks noGrp="1"/>
          </p:cNvSpPr>
          <p:nvPr>
            <p:ph type="title"/>
          </p:nvPr>
        </p:nvSpPr>
        <p:spPr/>
        <p:txBody>
          <a:bodyPr/>
          <a:lstStyle/>
          <a:p>
            <a:pPr>
              <a:lnSpc>
                <a:spcPct val="100000"/>
              </a:lnSpc>
            </a:pPr>
            <a:r>
              <a:rPr lang="en-IN" b="1" dirty="0">
                <a:solidFill>
                  <a:srgbClr val="0047AB"/>
                </a:solidFill>
                <a:latin typeface="+mn-lt"/>
              </a:rPr>
              <a:t>Recommendation #1: </a:t>
            </a:r>
            <a:endParaRPr lang="en-IN" dirty="0"/>
          </a:p>
        </p:txBody>
      </p:sp>
      <p:sp>
        <p:nvSpPr>
          <p:cNvPr id="3" name="Content Placeholder 2">
            <a:extLst>
              <a:ext uri="{FF2B5EF4-FFF2-40B4-BE49-F238E27FC236}">
                <a16:creationId xmlns:a16="http://schemas.microsoft.com/office/drawing/2014/main" id="{DEBD7FDC-C3A6-5721-2683-B9A62E71B0FD}"/>
              </a:ext>
            </a:extLst>
          </p:cNvPr>
          <p:cNvSpPr>
            <a:spLocks noGrp="1"/>
          </p:cNvSpPr>
          <p:nvPr>
            <p:ph idx="1"/>
          </p:nvPr>
        </p:nvSpPr>
        <p:spPr/>
        <p:txBody>
          <a:bodyPr/>
          <a:lstStyle/>
          <a:p>
            <a:pPr marL="0" indent="0">
              <a:lnSpc>
                <a:spcPct val="100000"/>
              </a:lnSpc>
              <a:buNone/>
            </a:pPr>
            <a:r>
              <a:rPr kumimoji="0" lang="en-US" altLang="en-US" sz="2800" b="1" i="1" u="sng" strike="noStrike" cap="none" normalizeH="0" baseline="0" dirty="0">
                <a:ln>
                  <a:noFill/>
                </a:ln>
                <a:solidFill>
                  <a:schemeClr val="tx1"/>
                </a:solidFill>
                <a:effectLst/>
              </a:rPr>
              <a:t>Monthly Seasonal Subscriptions:</a:t>
            </a:r>
          </a:p>
          <a:p>
            <a:pPr marL="0" indent="0">
              <a:lnSpc>
                <a:spcPct val="100000"/>
              </a:lnSpc>
              <a:buNone/>
            </a:pPr>
            <a:endParaRPr kumimoji="0" lang="en-US" altLang="en-US" sz="2800" b="1" i="1" u="sng" strike="noStrike" cap="none" normalizeH="0" baseline="0" dirty="0">
              <a:ln>
                <a:noFill/>
              </a:ln>
              <a:solidFill>
                <a:schemeClr val="tx1"/>
              </a:solidFill>
              <a:effectLst/>
            </a:endParaRPr>
          </a:p>
          <a:p>
            <a:pPr marL="0" indent="0">
              <a:lnSpc>
                <a:spcPct val="100000"/>
              </a:lnSpc>
              <a:buNone/>
            </a:pPr>
            <a:r>
              <a:rPr kumimoji="0" lang="en-US" altLang="en-US" sz="2800" b="1" i="0" u="none" strike="noStrike" cap="none" normalizeH="0" baseline="0" dirty="0">
                <a:ln>
                  <a:noFill/>
                </a:ln>
                <a:solidFill>
                  <a:schemeClr val="tx1"/>
                </a:solidFill>
                <a:effectLst/>
              </a:rPr>
              <a:t>Introduce "Monthly Seasonal Subscriptions" during October, November, and December—when casual ridership is high. This approach could incentivize casual riders to purchase monthly subscriptions, potentially converting them into annual members over time.</a:t>
            </a:r>
          </a:p>
        </p:txBody>
      </p:sp>
    </p:spTree>
    <p:extLst>
      <p:ext uri="{BB962C8B-B14F-4D97-AF65-F5344CB8AC3E}">
        <p14:creationId xmlns:p14="http://schemas.microsoft.com/office/powerpoint/2010/main" val="1153471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7F42D-E5CE-D673-1705-2F33CE2C35B1}"/>
              </a:ext>
            </a:extLst>
          </p:cNvPr>
          <p:cNvSpPr>
            <a:spLocks noGrp="1"/>
          </p:cNvSpPr>
          <p:nvPr>
            <p:ph type="title"/>
          </p:nvPr>
        </p:nvSpPr>
        <p:spPr/>
        <p:txBody>
          <a:bodyPr/>
          <a:lstStyle/>
          <a:p>
            <a:pPr>
              <a:lnSpc>
                <a:spcPct val="100000"/>
              </a:lnSpc>
            </a:pPr>
            <a:r>
              <a:rPr lang="en-IN" b="1" dirty="0">
                <a:solidFill>
                  <a:srgbClr val="0047AB"/>
                </a:solidFill>
                <a:latin typeface="+mn-lt"/>
              </a:rPr>
              <a:t>Recommendation #2: </a:t>
            </a:r>
            <a:endParaRPr lang="en-IN" dirty="0"/>
          </a:p>
        </p:txBody>
      </p:sp>
      <p:sp>
        <p:nvSpPr>
          <p:cNvPr id="3" name="Content Placeholder 2">
            <a:extLst>
              <a:ext uri="{FF2B5EF4-FFF2-40B4-BE49-F238E27FC236}">
                <a16:creationId xmlns:a16="http://schemas.microsoft.com/office/drawing/2014/main" id="{2DBC25F2-A993-FC49-D98D-ACFF673BA0D5}"/>
              </a:ext>
            </a:extLst>
          </p:cNvPr>
          <p:cNvSpPr>
            <a:spLocks noGrp="1"/>
          </p:cNvSpPr>
          <p:nvPr>
            <p:ph idx="1"/>
          </p:nvPr>
        </p:nvSpPr>
        <p:spPr/>
        <p:txBody>
          <a:bodyPr/>
          <a:lstStyle/>
          <a:p>
            <a:pPr marL="0" indent="0">
              <a:lnSpc>
                <a:spcPct val="100000"/>
              </a:lnSpc>
              <a:buNone/>
            </a:pPr>
            <a:r>
              <a:rPr lang="en-IN" b="1" i="1" u="sng" dirty="0"/>
              <a:t>Weekend Hangout Subscriptions:</a:t>
            </a:r>
          </a:p>
          <a:p>
            <a:pPr marL="0" indent="0">
              <a:lnSpc>
                <a:spcPct val="100000"/>
              </a:lnSpc>
              <a:buNone/>
            </a:pPr>
            <a:endParaRPr lang="en-IN" b="1" i="1" u="sng" dirty="0"/>
          </a:p>
          <a:p>
            <a:pPr marL="0" indent="0">
              <a:lnSpc>
                <a:spcPct val="100000"/>
              </a:lnSpc>
              <a:buNone/>
            </a:pPr>
            <a:r>
              <a:rPr lang="en-US" b="1" dirty="0"/>
              <a:t>Introduce 'Weekend Hangout Subscriptions' to convert casual leisure riders into weekly subscribers.</a:t>
            </a:r>
            <a:endParaRPr lang="en-IN" b="1" dirty="0"/>
          </a:p>
        </p:txBody>
      </p:sp>
    </p:spTree>
    <p:extLst>
      <p:ext uri="{BB962C8B-B14F-4D97-AF65-F5344CB8AC3E}">
        <p14:creationId xmlns:p14="http://schemas.microsoft.com/office/powerpoint/2010/main" val="13982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A6BC8-1C52-4F1C-A51B-87D67439BF53}"/>
              </a:ext>
            </a:extLst>
          </p:cNvPr>
          <p:cNvSpPr>
            <a:spLocks noGrp="1"/>
          </p:cNvSpPr>
          <p:nvPr>
            <p:ph type="title"/>
          </p:nvPr>
        </p:nvSpPr>
        <p:spPr/>
        <p:txBody>
          <a:bodyPr/>
          <a:lstStyle/>
          <a:p>
            <a:pPr>
              <a:lnSpc>
                <a:spcPct val="100000"/>
              </a:lnSpc>
            </a:pPr>
            <a:r>
              <a:rPr lang="en-IN" b="1" dirty="0">
                <a:solidFill>
                  <a:srgbClr val="0047AB"/>
                </a:solidFill>
                <a:latin typeface="+mn-lt"/>
              </a:rPr>
              <a:t>Recommendation #3: </a:t>
            </a:r>
            <a:endParaRPr lang="en-IN" dirty="0"/>
          </a:p>
        </p:txBody>
      </p:sp>
      <p:sp>
        <p:nvSpPr>
          <p:cNvPr id="3" name="Content Placeholder 2">
            <a:extLst>
              <a:ext uri="{FF2B5EF4-FFF2-40B4-BE49-F238E27FC236}">
                <a16:creationId xmlns:a16="http://schemas.microsoft.com/office/drawing/2014/main" id="{66E6551E-AEFC-E8CA-D85F-2389F34F3D4F}"/>
              </a:ext>
            </a:extLst>
          </p:cNvPr>
          <p:cNvSpPr>
            <a:spLocks noGrp="1"/>
          </p:cNvSpPr>
          <p:nvPr>
            <p:ph idx="1"/>
          </p:nvPr>
        </p:nvSpPr>
        <p:spPr/>
        <p:txBody>
          <a:bodyPr/>
          <a:lstStyle/>
          <a:p>
            <a:pPr marL="0" indent="0">
              <a:lnSpc>
                <a:spcPct val="100000"/>
              </a:lnSpc>
              <a:buNone/>
            </a:pPr>
            <a:r>
              <a:rPr lang="en-US" b="1" i="1" u="sng" dirty="0"/>
              <a:t>24-Hour Mobility Subscription:</a:t>
            </a:r>
          </a:p>
          <a:p>
            <a:pPr marL="0" indent="0">
              <a:lnSpc>
                <a:spcPct val="100000"/>
              </a:lnSpc>
              <a:buNone/>
            </a:pPr>
            <a:endParaRPr lang="en-US" b="1" dirty="0"/>
          </a:p>
          <a:p>
            <a:pPr marL="0" indent="0">
              <a:lnSpc>
                <a:spcPct val="100000"/>
              </a:lnSpc>
              <a:buNone/>
            </a:pPr>
            <a:r>
              <a:rPr lang="en-US" b="1" dirty="0"/>
              <a:t>Introduce a "24-Hour Mobility Subscription" pass to convert casual leisure and tourist riders into daily members, generating surplus revenue. This approach would also increase the likelihood of these users upgrading to Weekend, Seasonal, or even Annual memberships after experiencing the benefits of subscription-based commuting year-round.</a:t>
            </a:r>
            <a:endParaRPr lang="en-IN" b="1" dirty="0"/>
          </a:p>
        </p:txBody>
      </p:sp>
    </p:spTree>
    <p:extLst>
      <p:ext uri="{BB962C8B-B14F-4D97-AF65-F5344CB8AC3E}">
        <p14:creationId xmlns:p14="http://schemas.microsoft.com/office/powerpoint/2010/main" val="107734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70F17-C253-497A-76C7-B2E9137731D4}"/>
              </a:ext>
            </a:extLst>
          </p:cNvPr>
          <p:cNvSpPr>
            <a:spLocks noGrp="1"/>
          </p:cNvSpPr>
          <p:nvPr>
            <p:ph type="title"/>
          </p:nvPr>
        </p:nvSpPr>
        <p:spPr/>
        <p:txBody>
          <a:bodyPr/>
          <a:lstStyle/>
          <a:p>
            <a:pPr>
              <a:lnSpc>
                <a:spcPct val="100000"/>
              </a:lnSpc>
            </a:pPr>
            <a:r>
              <a:rPr lang="en-IN" b="1" dirty="0">
                <a:solidFill>
                  <a:srgbClr val="0047AB"/>
                </a:solidFill>
                <a:latin typeface="+mn-lt"/>
              </a:rPr>
              <a:t>Thank You</a:t>
            </a:r>
            <a:endParaRPr lang="en-IN" dirty="0"/>
          </a:p>
        </p:txBody>
      </p:sp>
      <p:sp>
        <p:nvSpPr>
          <p:cNvPr id="3" name="Content Placeholder 2">
            <a:extLst>
              <a:ext uri="{FF2B5EF4-FFF2-40B4-BE49-F238E27FC236}">
                <a16:creationId xmlns:a16="http://schemas.microsoft.com/office/drawing/2014/main" id="{8B673DD5-FCF0-6545-2A01-E243B2BD2B8F}"/>
              </a:ext>
            </a:extLst>
          </p:cNvPr>
          <p:cNvSpPr>
            <a:spLocks noGrp="1"/>
          </p:cNvSpPr>
          <p:nvPr>
            <p:ph idx="1"/>
          </p:nvPr>
        </p:nvSpPr>
        <p:spPr/>
        <p:txBody>
          <a:bodyPr>
            <a:normAutofit lnSpcReduction="10000"/>
          </a:bodyPr>
          <a:lstStyle/>
          <a:p>
            <a:pPr marL="0" indent="0">
              <a:lnSpc>
                <a:spcPct val="100000"/>
              </a:lnSpc>
              <a:buNone/>
            </a:pPr>
            <a:r>
              <a:rPr kumimoji="0" lang="en-US" altLang="en-US" b="1" i="0" u="none" strike="noStrike" cap="none" normalizeH="0" baseline="0" dirty="0">
                <a:ln>
                  <a:noFill/>
                </a:ln>
                <a:solidFill>
                  <a:schemeClr val="tx1"/>
                </a:solidFill>
                <a:effectLst/>
              </a:rPr>
              <a:t>Questions?</a:t>
            </a:r>
          </a:p>
          <a:p>
            <a:endParaRPr lang="en-IN" dirty="0"/>
          </a:p>
          <a:p>
            <a:endParaRPr lang="en-IN" dirty="0"/>
          </a:p>
          <a:p>
            <a:endParaRPr lang="en-IN" dirty="0"/>
          </a:p>
          <a:p>
            <a:pPr marL="0" indent="0">
              <a:buNone/>
            </a:pPr>
            <a:endParaRPr lang="en-IN" dirty="0"/>
          </a:p>
          <a:p>
            <a:pPr marL="0" indent="0">
              <a:buNone/>
            </a:pPr>
            <a:endParaRPr lang="en-IN" dirty="0"/>
          </a:p>
          <a:p>
            <a:endParaRPr lang="en-IN" dirty="0"/>
          </a:p>
          <a:p>
            <a:pPr marL="0" indent="0">
              <a:lnSpc>
                <a:spcPct val="100000"/>
              </a:lnSpc>
              <a:buNone/>
            </a:pPr>
            <a:endParaRPr lang="en-US" sz="2000" b="1" i="1" dirty="0"/>
          </a:p>
          <a:p>
            <a:pPr marL="0" indent="0">
              <a:lnSpc>
                <a:spcPct val="100000"/>
              </a:lnSpc>
              <a:buNone/>
            </a:pPr>
            <a:r>
              <a:rPr lang="en-US" sz="2000" b="1" i="1" dirty="0"/>
              <a:t>Prepared by Altamash Ali | </a:t>
            </a:r>
            <a:r>
              <a:rPr lang="en-US" sz="2000" b="1" i="1" dirty="0" err="1"/>
              <a:t>Cyclistic</a:t>
            </a:r>
            <a:r>
              <a:rPr lang="en-US" sz="2000" b="1" i="1" dirty="0"/>
              <a:t> Data Analysis</a:t>
            </a:r>
            <a:endParaRPr kumimoji="0" lang="en-US" altLang="en-US" sz="2000" b="1" i="1"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995627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CAA9-B44A-39CA-B3E8-0F878AADF71F}"/>
              </a:ext>
            </a:extLst>
          </p:cNvPr>
          <p:cNvSpPr>
            <a:spLocks noGrp="1"/>
          </p:cNvSpPr>
          <p:nvPr>
            <p:ph type="title"/>
          </p:nvPr>
        </p:nvSpPr>
        <p:spPr/>
        <p:txBody>
          <a:bodyPr/>
          <a:lstStyle/>
          <a:p>
            <a:pPr>
              <a:lnSpc>
                <a:spcPct val="100000"/>
              </a:lnSpc>
            </a:pPr>
            <a:r>
              <a:rPr lang="en-IN" b="1" dirty="0">
                <a:solidFill>
                  <a:srgbClr val="0047AB"/>
                </a:solidFill>
                <a:latin typeface="+mn-lt"/>
              </a:rPr>
              <a:t>Appendix #1 </a:t>
            </a:r>
            <a:endParaRPr lang="en-IN" dirty="0"/>
          </a:p>
        </p:txBody>
      </p:sp>
      <p:graphicFrame>
        <p:nvGraphicFramePr>
          <p:cNvPr id="7" name="Content Placeholder 6">
            <a:extLst>
              <a:ext uri="{FF2B5EF4-FFF2-40B4-BE49-F238E27FC236}">
                <a16:creationId xmlns:a16="http://schemas.microsoft.com/office/drawing/2014/main" id="{32548114-EA25-9B50-D27C-B08EAF590157}"/>
              </a:ext>
            </a:extLst>
          </p:cNvPr>
          <p:cNvGraphicFramePr>
            <a:graphicFrameLocks noGrp="1"/>
          </p:cNvGraphicFramePr>
          <p:nvPr>
            <p:ph idx="1"/>
            <p:extLst>
              <p:ext uri="{D42A27DB-BD31-4B8C-83A1-F6EECF244321}">
                <p14:modId xmlns:p14="http://schemas.microsoft.com/office/powerpoint/2010/main" val="37263376"/>
              </p:ext>
            </p:extLst>
          </p:nvPr>
        </p:nvGraphicFramePr>
        <p:xfrm>
          <a:off x="838200" y="2012171"/>
          <a:ext cx="2260600" cy="731520"/>
        </p:xfrm>
        <a:graphic>
          <a:graphicData uri="http://schemas.openxmlformats.org/drawingml/2006/table">
            <a:tbl>
              <a:tblPr>
                <a:tableStyleId>{5C22544A-7EE6-4342-B048-85BDC9FD1C3A}</a:tableStyleId>
              </a:tblPr>
              <a:tblGrid>
                <a:gridCol w="863600">
                  <a:extLst>
                    <a:ext uri="{9D8B030D-6E8A-4147-A177-3AD203B41FA5}">
                      <a16:colId xmlns:a16="http://schemas.microsoft.com/office/drawing/2014/main" val="326900812"/>
                    </a:ext>
                  </a:extLst>
                </a:gridCol>
                <a:gridCol w="1397000">
                  <a:extLst>
                    <a:ext uri="{9D8B030D-6E8A-4147-A177-3AD203B41FA5}">
                      <a16:colId xmlns:a16="http://schemas.microsoft.com/office/drawing/2014/main" val="2407272658"/>
                    </a:ext>
                  </a:extLst>
                </a:gridCol>
              </a:tblGrid>
              <a:tr h="182880">
                <a:tc>
                  <a:txBody>
                    <a:bodyPr/>
                    <a:lstStyle/>
                    <a:p>
                      <a:pPr algn="l" fontAlgn="b"/>
                      <a:r>
                        <a:rPr lang="en-IN" sz="1100" u="none" strike="noStrike">
                          <a:effectLst/>
                        </a:rPr>
                        <a:t>Row Labels</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dirty="0">
                          <a:effectLst/>
                        </a:rPr>
                        <a:t>Average of </a:t>
                      </a:r>
                      <a:r>
                        <a:rPr lang="en-IN" sz="1100" u="none" strike="noStrike" dirty="0" err="1">
                          <a:effectLst/>
                        </a:rPr>
                        <a:t>ride_length</a:t>
                      </a:r>
                      <a:endParaRPr lang="en-IN" sz="11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76140882"/>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0.00.30.24</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30378493"/>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0.00.12.02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90169244"/>
                  </a:ext>
                </a:extLst>
              </a:tr>
              <a:tr h="182880">
                <a:tc>
                  <a:txBody>
                    <a:bodyPr/>
                    <a:lstStyle/>
                    <a:p>
                      <a:pPr algn="l"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dirty="0">
                          <a:effectLst/>
                        </a:rPr>
                        <a:t>0.00.20.39</a:t>
                      </a:r>
                      <a:endParaRPr lang="en-IN" sz="11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94883710"/>
                  </a:ext>
                </a:extLst>
              </a:tr>
            </a:tbl>
          </a:graphicData>
        </a:graphic>
      </p:graphicFrame>
      <p:graphicFrame>
        <p:nvGraphicFramePr>
          <p:cNvPr id="9" name="Table 8">
            <a:extLst>
              <a:ext uri="{FF2B5EF4-FFF2-40B4-BE49-F238E27FC236}">
                <a16:creationId xmlns:a16="http://schemas.microsoft.com/office/drawing/2014/main" id="{77C70910-A91C-74BD-76F1-5D52780FB735}"/>
              </a:ext>
            </a:extLst>
          </p:cNvPr>
          <p:cNvGraphicFramePr>
            <a:graphicFrameLocks noGrp="1"/>
          </p:cNvGraphicFramePr>
          <p:nvPr>
            <p:extLst>
              <p:ext uri="{D42A27DB-BD31-4B8C-83A1-F6EECF244321}">
                <p14:modId xmlns:p14="http://schemas.microsoft.com/office/powerpoint/2010/main" val="169841377"/>
              </p:ext>
            </p:extLst>
          </p:nvPr>
        </p:nvGraphicFramePr>
        <p:xfrm>
          <a:off x="7467600" y="2012171"/>
          <a:ext cx="1727200" cy="1645920"/>
        </p:xfrm>
        <a:graphic>
          <a:graphicData uri="http://schemas.openxmlformats.org/drawingml/2006/table">
            <a:tbl>
              <a:tblPr>
                <a:tableStyleId>{5C22544A-7EE6-4342-B048-85BDC9FD1C3A}</a:tableStyleId>
              </a:tblPr>
              <a:tblGrid>
                <a:gridCol w="863600">
                  <a:extLst>
                    <a:ext uri="{9D8B030D-6E8A-4147-A177-3AD203B41FA5}">
                      <a16:colId xmlns:a16="http://schemas.microsoft.com/office/drawing/2014/main" val="575646993"/>
                    </a:ext>
                  </a:extLst>
                </a:gridCol>
                <a:gridCol w="863600">
                  <a:extLst>
                    <a:ext uri="{9D8B030D-6E8A-4147-A177-3AD203B41FA5}">
                      <a16:colId xmlns:a16="http://schemas.microsoft.com/office/drawing/2014/main" val="2229846402"/>
                    </a:ext>
                  </a:extLst>
                </a:gridCol>
              </a:tblGrid>
              <a:tr h="182880">
                <a:tc>
                  <a:txBody>
                    <a:bodyPr/>
                    <a:lstStyle/>
                    <a:p>
                      <a:pPr algn="l" fontAlgn="b"/>
                      <a:r>
                        <a:rPr lang="en-IN" sz="1100" u="none" strike="noStrike" dirty="0">
                          <a:effectLst/>
                        </a:rPr>
                        <a:t>Row Labels</a:t>
                      </a:r>
                      <a:endParaRPr lang="en-IN"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a:effectLst/>
                        </a:rPr>
                        <a:t>Sum of Count</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66777176"/>
                  </a:ext>
                </a:extLst>
              </a:tr>
              <a:tr h="182880">
                <a:tc>
                  <a:txBody>
                    <a:bodyPr/>
                    <a:lstStyle/>
                    <a:p>
                      <a:pPr algn="l" fontAlgn="b"/>
                      <a:r>
                        <a:rPr lang="en-IN" sz="1100" u="none" strike="noStrike">
                          <a:effectLst/>
                        </a:rPr>
                        <a:t>6</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4005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28699111"/>
                  </a:ext>
                </a:extLst>
              </a:tr>
              <a:tr h="182880">
                <a:tc>
                  <a:txBody>
                    <a:bodyPr/>
                    <a:lstStyle/>
                    <a:p>
                      <a:pPr algn="l" fontAlgn="b"/>
                      <a:r>
                        <a:rPr lang="en-IN" sz="1100" u="none" strike="noStrike">
                          <a:effectLst/>
                        </a:rPr>
                        <a:t>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74867</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43980285"/>
                  </a:ext>
                </a:extLst>
              </a:tr>
              <a:tr h="182880">
                <a:tc>
                  <a:txBody>
                    <a:bodyPr/>
                    <a:lstStyle/>
                    <a:p>
                      <a:pPr algn="l" fontAlgn="b"/>
                      <a:r>
                        <a:rPr lang="en-IN" sz="1100" u="none" strike="noStrike">
                          <a:effectLst/>
                        </a:rPr>
                        <a:t>8</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170508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16448893"/>
                  </a:ext>
                </a:extLst>
              </a:tr>
              <a:tr h="182880">
                <a:tc>
                  <a:txBody>
                    <a:bodyPr/>
                    <a:lstStyle/>
                    <a:p>
                      <a:pPr algn="l" fontAlgn="b"/>
                      <a:r>
                        <a:rPr lang="en-IN" sz="1100" u="none" strike="noStrike">
                          <a:effectLst/>
                        </a:rPr>
                        <a:t>9</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dirty="0">
                          <a:effectLst/>
                        </a:rPr>
                        <a:t>201030</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80033957"/>
                  </a:ext>
                </a:extLst>
              </a:tr>
              <a:tr h="182880">
                <a:tc>
                  <a:txBody>
                    <a:bodyPr/>
                    <a:lstStyle/>
                    <a:p>
                      <a:pPr algn="l" fontAlgn="b"/>
                      <a:r>
                        <a:rPr lang="en-IN" sz="1100" u="none" strike="noStrike">
                          <a:effectLst/>
                        </a:rPr>
                        <a:t>10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174695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56337522"/>
                  </a:ext>
                </a:extLst>
              </a:tr>
              <a:tr h="182880">
                <a:tc>
                  <a:txBody>
                    <a:bodyPr/>
                    <a:lstStyle/>
                    <a:p>
                      <a:pPr algn="l" fontAlgn="b"/>
                      <a:r>
                        <a:rPr lang="en-IN" sz="1100" u="none" strike="noStrike">
                          <a:effectLst/>
                        </a:rPr>
                        <a:t>11</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90010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47398629"/>
                  </a:ext>
                </a:extLst>
              </a:tr>
              <a:tr h="182880">
                <a:tc>
                  <a:txBody>
                    <a:bodyPr/>
                    <a:lstStyle/>
                    <a:p>
                      <a:pPr algn="l" fontAlgn="b"/>
                      <a:r>
                        <a:rPr lang="en-IN" sz="1100" u="none" strike="noStrike">
                          <a:effectLst/>
                        </a:rPr>
                        <a:t>12</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44673</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52919372"/>
                  </a:ext>
                </a:extLst>
              </a:tr>
              <a:tr h="182880">
                <a:tc>
                  <a:txBody>
                    <a:bodyPr/>
                    <a:lstStyle/>
                    <a:p>
                      <a:pPr algn="l"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dirty="0">
                          <a:effectLst/>
                        </a:rPr>
                        <a:t>759788</a:t>
                      </a:r>
                      <a:endParaRPr lang="en-IN" sz="11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9587809"/>
                  </a:ext>
                </a:extLst>
              </a:tr>
            </a:tbl>
          </a:graphicData>
        </a:graphic>
      </p:graphicFrame>
      <p:graphicFrame>
        <p:nvGraphicFramePr>
          <p:cNvPr id="10" name="Table 9">
            <a:extLst>
              <a:ext uri="{FF2B5EF4-FFF2-40B4-BE49-F238E27FC236}">
                <a16:creationId xmlns:a16="http://schemas.microsoft.com/office/drawing/2014/main" id="{F29949BD-3EC9-4B3E-E6F8-62F5D7A697F3}"/>
              </a:ext>
            </a:extLst>
          </p:cNvPr>
          <p:cNvGraphicFramePr>
            <a:graphicFrameLocks noGrp="1"/>
          </p:cNvGraphicFramePr>
          <p:nvPr>
            <p:extLst>
              <p:ext uri="{D42A27DB-BD31-4B8C-83A1-F6EECF244321}">
                <p14:modId xmlns:p14="http://schemas.microsoft.com/office/powerpoint/2010/main" val="4102798946"/>
              </p:ext>
            </p:extLst>
          </p:nvPr>
        </p:nvGraphicFramePr>
        <p:xfrm>
          <a:off x="9575800" y="2012171"/>
          <a:ext cx="1778000" cy="42062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665414085"/>
                    </a:ext>
                  </a:extLst>
                </a:gridCol>
                <a:gridCol w="863600">
                  <a:extLst>
                    <a:ext uri="{9D8B030D-6E8A-4147-A177-3AD203B41FA5}">
                      <a16:colId xmlns:a16="http://schemas.microsoft.com/office/drawing/2014/main" val="3789689173"/>
                    </a:ext>
                  </a:extLst>
                </a:gridCol>
              </a:tblGrid>
              <a:tr h="182880">
                <a:tc>
                  <a:txBody>
                    <a:bodyPr/>
                    <a:lstStyle/>
                    <a:p>
                      <a:pPr algn="l" fontAlgn="b"/>
                      <a:r>
                        <a:rPr lang="en-IN" sz="1100" u="none" strike="noStrike" dirty="0">
                          <a:effectLst/>
                        </a:rPr>
                        <a:t>Row Labels</a:t>
                      </a:r>
                      <a:endParaRPr lang="en-IN"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a:effectLst/>
                        </a:rPr>
                        <a:t>Sum of Count</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35129077"/>
                  </a:ext>
                </a:extLst>
              </a:tr>
              <a:tr h="182880">
                <a:tc>
                  <a:txBody>
                    <a:bodyPr/>
                    <a:lstStyle/>
                    <a:p>
                      <a:pPr algn="l" fontAlgn="b"/>
                      <a:r>
                        <a:rPr lang="en-IN" sz="1100" u="none" strike="noStrike">
                          <a:effectLst/>
                        </a:rPr>
                        <a:t>6</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4005</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27434751"/>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3120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82499598"/>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885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0167484"/>
                  </a:ext>
                </a:extLst>
              </a:tr>
              <a:tr h="182880">
                <a:tc>
                  <a:txBody>
                    <a:bodyPr/>
                    <a:lstStyle/>
                    <a:p>
                      <a:pPr algn="l" fontAlgn="b"/>
                      <a:r>
                        <a:rPr lang="en-IN" sz="1100" u="none" strike="noStrike">
                          <a:effectLst/>
                        </a:rPr>
                        <a:t>7</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74867</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93028220"/>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51548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9450827"/>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23319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00243770"/>
                  </a:ext>
                </a:extLst>
              </a:tr>
              <a:tr h="182880">
                <a:tc>
                  <a:txBody>
                    <a:bodyPr/>
                    <a:lstStyle/>
                    <a:p>
                      <a:pPr algn="l" fontAlgn="b"/>
                      <a:r>
                        <a:rPr lang="en-IN" sz="1100" u="none" strike="noStrike">
                          <a:effectLst/>
                        </a:rPr>
                        <a:t>8</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170508</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26561986"/>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110101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4066649"/>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60407</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33494572"/>
                  </a:ext>
                </a:extLst>
              </a:tr>
              <a:tr h="182880">
                <a:tc>
                  <a:txBody>
                    <a:bodyPr/>
                    <a:lstStyle/>
                    <a:p>
                      <a:pPr algn="l" fontAlgn="b"/>
                      <a:r>
                        <a:rPr lang="en-IN" sz="1100" u="none" strike="noStrike">
                          <a:effectLst/>
                        </a:rPr>
                        <a:t>9</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201030</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11440740"/>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105335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25378538"/>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95695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56121017"/>
                  </a:ext>
                </a:extLst>
              </a:tr>
              <a:tr h="182880">
                <a:tc>
                  <a:txBody>
                    <a:bodyPr/>
                    <a:lstStyle/>
                    <a:p>
                      <a:pPr algn="l" fontAlgn="b"/>
                      <a:r>
                        <a:rPr lang="en-IN" sz="1100" u="none" strike="noStrike">
                          <a:effectLst/>
                        </a:rPr>
                        <a:t>10</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174695</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20210782"/>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64201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96719187"/>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110494</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19298884"/>
                  </a:ext>
                </a:extLst>
              </a:tr>
              <a:tr h="182880">
                <a:tc>
                  <a:txBody>
                    <a:bodyPr/>
                    <a:lstStyle/>
                    <a:p>
                      <a:pPr algn="l" fontAlgn="b"/>
                      <a:r>
                        <a:rPr lang="en-IN" sz="1100" u="none" strike="noStrike">
                          <a:effectLst/>
                        </a:rPr>
                        <a:t>11</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90010</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18985241"/>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18065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69441326"/>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71945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58336476"/>
                  </a:ext>
                </a:extLst>
              </a:tr>
              <a:tr h="182880">
                <a:tc>
                  <a:txBody>
                    <a:bodyPr/>
                    <a:lstStyle/>
                    <a:p>
                      <a:pPr algn="l" fontAlgn="b"/>
                      <a:r>
                        <a:rPr lang="en-IN" sz="1100" u="none" strike="noStrike">
                          <a:effectLst/>
                        </a:rPr>
                        <a:t>12</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44673</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66885458"/>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4382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81145962"/>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40291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52553452"/>
                  </a:ext>
                </a:extLst>
              </a:tr>
              <a:tr h="182880">
                <a:tc>
                  <a:txBody>
                    <a:bodyPr/>
                    <a:lstStyle/>
                    <a:p>
                      <a:pPr algn="l"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dirty="0">
                          <a:effectLst/>
                        </a:rPr>
                        <a:t>759788</a:t>
                      </a:r>
                      <a:endParaRPr lang="en-IN" sz="11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95673057"/>
                  </a:ext>
                </a:extLst>
              </a:tr>
            </a:tbl>
          </a:graphicData>
        </a:graphic>
      </p:graphicFrame>
      <p:graphicFrame>
        <p:nvGraphicFramePr>
          <p:cNvPr id="12" name="Table 11">
            <a:extLst>
              <a:ext uri="{FF2B5EF4-FFF2-40B4-BE49-F238E27FC236}">
                <a16:creationId xmlns:a16="http://schemas.microsoft.com/office/drawing/2014/main" id="{499FC676-F645-B0A3-2934-DD60FA82E518}"/>
              </a:ext>
            </a:extLst>
          </p:cNvPr>
          <p:cNvGraphicFramePr>
            <a:graphicFrameLocks noGrp="1"/>
          </p:cNvGraphicFramePr>
          <p:nvPr>
            <p:extLst>
              <p:ext uri="{D42A27DB-BD31-4B8C-83A1-F6EECF244321}">
                <p14:modId xmlns:p14="http://schemas.microsoft.com/office/powerpoint/2010/main" val="183233603"/>
              </p:ext>
            </p:extLst>
          </p:nvPr>
        </p:nvGraphicFramePr>
        <p:xfrm>
          <a:off x="838200" y="5304011"/>
          <a:ext cx="7251700" cy="914400"/>
        </p:xfrm>
        <a:graphic>
          <a:graphicData uri="http://schemas.openxmlformats.org/drawingml/2006/table">
            <a:tbl>
              <a:tblPr>
                <a:tableStyleId>{5C22544A-7EE6-4342-B048-85BDC9FD1C3A}</a:tableStyleId>
              </a:tblPr>
              <a:tblGrid>
                <a:gridCol w="1397000">
                  <a:extLst>
                    <a:ext uri="{9D8B030D-6E8A-4147-A177-3AD203B41FA5}">
                      <a16:colId xmlns:a16="http://schemas.microsoft.com/office/drawing/2014/main" val="3238702178"/>
                    </a:ext>
                  </a:extLst>
                </a:gridCol>
                <a:gridCol w="1066800">
                  <a:extLst>
                    <a:ext uri="{9D8B030D-6E8A-4147-A177-3AD203B41FA5}">
                      <a16:colId xmlns:a16="http://schemas.microsoft.com/office/drawing/2014/main" val="3327360592"/>
                    </a:ext>
                  </a:extLst>
                </a:gridCol>
                <a:gridCol w="660400">
                  <a:extLst>
                    <a:ext uri="{9D8B030D-6E8A-4147-A177-3AD203B41FA5}">
                      <a16:colId xmlns:a16="http://schemas.microsoft.com/office/drawing/2014/main" val="2759076934"/>
                    </a:ext>
                  </a:extLst>
                </a:gridCol>
                <a:gridCol w="749300">
                  <a:extLst>
                    <a:ext uri="{9D8B030D-6E8A-4147-A177-3AD203B41FA5}">
                      <a16:colId xmlns:a16="http://schemas.microsoft.com/office/drawing/2014/main" val="1256392393"/>
                    </a:ext>
                  </a:extLst>
                </a:gridCol>
                <a:gridCol w="660400">
                  <a:extLst>
                    <a:ext uri="{9D8B030D-6E8A-4147-A177-3AD203B41FA5}">
                      <a16:colId xmlns:a16="http://schemas.microsoft.com/office/drawing/2014/main" val="647085111"/>
                    </a:ext>
                  </a:extLst>
                </a:gridCol>
                <a:gridCol w="660400">
                  <a:extLst>
                    <a:ext uri="{9D8B030D-6E8A-4147-A177-3AD203B41FA5}">
                      <a16:colId xmlns:a16="http://schemas.microsoft.com/office/drawing/2014/main" val="4180955680"/>
                    </a:ext>
                  </a:extLst>
                </a:gridCol>
                <a:gridCol w="660400">
                  <a:extLst>
                    <a:ext uri="{9D8B030D-6E8A-4147-A177-3AD203B41FA5}">
                      <a16:colId xmlns:a16="http://schemas.microsoft.com/office/drawing/2014/main" val="2111721754"/>
                    </a:ext>
                  </a:extLst>
                </a:gridCol>
                <a:gridCol w="660400">
                  <a:extLst>
                    <a:ext uri="{9D8B030D-6E8A-4147-A177-3AD203B41FA5}">
                      <a16:colId xmlns:a16="http://schemas.microsoft.com/office/drawing/2014/main" val="566216945"/>
                    </a:ext>
                  </a:extLst>
                </a:gridCol>
                <a:gridCol w="736600">
                  <a:extLst>
                    <a:ext uri="{9D8B030D-6E8A-4147-A177-3AD203B41FA5}">
                      <a16:colId xmlns:a16="http://schemas.microsoft.com/office/drawing/2014/main" val="3876394725"/>
                    </a:ext>
                  </a:extLst>
                </a:gridCol>
              </a:tblGrid>
              <a:tr h="182880">
                <a:tc>
                  <a:txBody>
                    <a:bodyPr/>
                    <a:lstStyle/>
                    <a:p>
                      <a:pPr algn="l" fontAlgn="b"/>
                      <a:r>
                        <a:rPr lang="en-IN" sz="1100" u="none" strike="noStrike">
                          <a:effectLst/>
                        </a:rPr>
                        <a:t>Average of ride_length</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dirty="0">
                          <a:effectLst/>
                        </a:rPr>
                        <a:t>Column Labels</a:t>
                      </a:r>
                      <a:endParaRPr lang="en-IN"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16837727"/>
                  </a:ext>
                </a:extLst>
              </a:tr>
              <a:tr h="182880">
                <a:tc>
                  <a:txBody>
                    <a:bodyPr/>
                    <a:lstStyle/>
                    <a:p>
                      <a:pPr algn="l" fontAlgn="b"/>
                      <a:r>
                        <a:rPr lang="en-IN" sz="1100" u="none" strike="noStrike">
                          <a:effectLst/>
                        </a:rPr>
                        <a:t>Row Labels</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Monday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Tuesday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Wednesday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Thursday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Friday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Saturday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Sunday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97628132"/>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0.00.29.26</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0.00.27.37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0.00.27.52</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0.00.29.41</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0.00.29.57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0.00.32.01</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0.00.31.44</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0.00.30.24</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79215329"/>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0.00.11.48</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0.00.11.42</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0.00.11.39</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0.00.11.51</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0.00.11.53</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0.00.13.21</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0.00.13.03</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0.00.12.02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72428548"/>
                  </a:ext>
                </a:extLst>
              </a:tr>
              <a:tr h="182880">
                <a:tc>
                  <a:txBody>
                    <a:bodyPr/>
                    <a:lstStyle/>
                    <a:p>
                      <a:pPr algn="l"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0.00.18.46</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0.00.16.47</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0.00.16.42</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0.00.18.02</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0.00.19.21</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0.00.26.25</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0.00.26.20</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dirty="0">
                          <a:effectLst/>
                        </a:rPr>
                        <a:t>0.00.20.39</a:t>
                      </a:r>
                      <a:endParaRPr lang="en-IN" sz="11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6040134"/>
                  </a:ext>
                </a:extLst>
              </a:tr>
            </a:tbl>
          </a:graphicData>
        </a:graphic>
      </p:graphicFrame>
      <p:graphicFrame>
        <p:nvGraphicFramePr>
          <p:cNvPr id="13" name="Table 12">
            <a:extLst>
              <a:ext uri="{FF2B5EF4-FFF2-40B4-BE49-F238E27FC236}">
                <a16:creationId xmlns:a16="http://schemas.microsoft.com/office/drawing/2014/main" id="{3EB00258-C149-E44D-F62B-7E1DAB9309EC}"/>
              </a:ext>
            </a:extLst>
          </p:cNvPr>
          <p:cNvGraphicFramePr>
            <a:graphicFrameLocks noGrp="1"/>
          </p:cNvGraphicFramePr>
          <p:nvPr>
            <p:extLst>
              <p:ext uri="{D42A27DB-BD31-4B8C-83A1-F6EECF244321}">
                <p14:modId xmlns:p14="http://schemas.microsoft.com/office/powerpoint/2010/main" val="2999019922"/>
              </p:ext>
            </p:extLst>
          </p:nvPr>
        </p:nvGraphicFramePr>
        <p:xfrm>
          <a:off x="838200" y="3566651"/>
          <a:ext cx="6248400" cy="914400"/>
        </p:xfrm>
        <a:graphic>
          <a:graphicData uri="http://schemas.openxmlformats.org/drawingml/2006/table">
            <a:tbl>
              <a:tblPr>
                <a:tableStyleId>{5C22544A-7EE6-4342-B048-85BDC9FD1C3A}</a:tableStyleId>
              </a:tblPr>
              <a:tblGrid>
                <a:gridCol w="977900">
                  <a:extLst>
                    <a:ext uri="{9D8B030D-6E8A-4147-A177-3AD203B41FA5}">
                      <a16:colId xmlns:a16="http://schemas.microsoft.com/office/drawing/2014/main" val="2609359245"/>
                    </a:ext>
                  </a:extLst>
                </a:gridCol>
                <a:gridCol w="1066800">
                  <a:extLst>
                    <a:ext uri="{9D8B030D-6E8A-4147-A177-3AD203B41FA5}">
                      <a16:colId xmlns:a16="http://schemas.microsoft.com/office/drawing/2014/main" val="1203158432"/>
                    </a:ext>
                  </a:extLst>
                </a:gridCol>
                <a:gridCol w="546100">
                  <a:extLst>
                    <a:ext uri="{9D8B030D-6E8A-4147-A177-3AD203B41FA5}">
                      <a16:colId xmlns:a16="http://schemas.microsoft.com/office/drawing/2014/main" val="2805137024"/>
                    </a:ext>
                  </a:extLst>
                </a:gridCol>
                <a:gridCol w="749300">
                  <a:extLst>
                    <a:ext uri="{9D8B030D-6E8A-4147-A177-3AD203B41FA5}">
                      <a16:colId xmlns:a16="http://schemas.microsoft.com/office/drawing/2014/main" val="1921573213"/>
                    </a:ext>
                  </a:extLst>
                </a:gridCol>
                <a:gridCol w="596900">
                  <a:extLst>
                    <a:ext uri="{9D8B030D-6E8A-4147-A177-3AD203B41FA5}">
                      <a16:colId xmlns:a16="http://schemas.microsoft.com/office/drawing/2014/main" val="2973452826"/>
                    </a:ext>
                  </a:extLst>
                </a:gridCol>
                <a:gridCol w="482600">
                  <a:extLst>
                    <a:ext uri="{9D8B030D-6E8A-4147-A177-3AD203B41FA5}">
                      <a16:colId xmlns:a16="http://schemas.microsoft.com/office/drawing/2014/main" val="6029157"/>
                    </a:ext>
                  </a:extLst>
                </a:gridCol>
                <a:gridCol w="584200">
                  <a:extLst>
                    <a:ext uri="{9D8B030D-6E8A-4147-A177-3AD203B41FA5}">
                      <a16:colId xmlns:a16="http://schemas.microsoft.com/office/drawing/2014/main" val="2457994287"/>
                    </a:ext>
                  </a:extLst>
                </a:gridCol>
                <a:gridCol w="508000">
                  <a:extLst>
                    <a:ext uri="{9D8B030D-6E8A-4147-A177-3AD203B41FA5}">
                      <a16:colId xmlns:a16="http://schemas.microsoft.com/office/drawing/2014/main" val="3270181812"/>
                    </a:ext>
                  </a:extLst>
                </a:gridCol>
                <a:gridCol w="736600">
                  <a:extLst>
                    <a:ext uri="{9D8B030D-6E8A-4147-A177-3AD203B41FA5}">
                      <a16:colId xmlns:a16="http://schemas.microsoft.com/office/drawing/2014/main" val="1450766667"/>
                    </a:ext>
                  </a:extLst>
                </a:gridCol>
              </a:tblGrid>
              <a:tr h="182880">
                <a:tc>
                  <a:txBody>
                    <a:bodyPr/>
                    <a:lstStyle/>
                    <a:p>
                      <a:pPr algn="l" fontAlgn="b"/>
                      <a:r>
                        <a:rPr lang="en-IN" sz="1100" u="none" strike="noStrike">
                          <a:effectLst/>
                        </a:rPr>
                        <a:t>Count of trip_id</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a:effectLst/>
                        </a:rPr>
                        <a:t>Column Labels</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IN" sz="11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78577251"/>
                  </a:ext>
                </a:extLst>
              </a:tr>
              <a:tr h="182880">
                <a:tc>
                  <a:txBody>
                    <a:bodyPr/>
                    <a:lstStyle/>
                    <a:p>
                      <a:pPr algn="l" fontAlgn="b"/>
                      <a:r>
                        <a:rPr lang="en-IN" sz="1100" u="none" strike="noStrike">
                          <a:effectLst/>
                        </a:rPr>
                        <a:t>Row Labels</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Monday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Tuesday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Wednesday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Thursday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Friday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dirty="0">
                          <a:effectLst/>
                        </a:rPr>
                        <a:t>Saturday</a:t>
                      </a:r>
                      <a:endParaRPr lang="en-IN"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Sunday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82738207"/>
                  </a:ext>
                </a:extLst>
              </a:tr>
              <a:tr h="182880">
                <a:tc>
                  <a:txBody>
                    <a:bodyPr/>
                    <a:lstStyle/>
                    <a:p>
                      <a:pPr algn="l" fontAlgn="b"/>
                      <a:r>
                        <a:rPr lang="en-IN" sz="1100" u="none" strike="noStrike">
                          <a:effectLst/>
                        </a:rPr>
                        <a:t>Customer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41866</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32807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30221</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33599</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47721</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90575</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79963</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356752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60684123"/>
                  </a:ext>
                </a:extLst>
              </a:tr>
              <a:tr h="182880">
                <a:tc>
                  <a:txBody>
                    <a:bodyPr/>
                    <a:lstStyle/>
                    <a:p>
                      <a:pPr algn="l" fontAlgn="b"/>
                      <a:r>
                        <a:rPr lang="en-IN" sz="1100" u="none" strike="noStrike">
                          <a:effectLst/>
                        </a:rPr>
                        <a:t>Subscriber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64042</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69896</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66828</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63272</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67643</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38862</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32493</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403036</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78062346"/>
                  </a:ext>
                </a:extLst>
              </a:tr>
              <a:tr h="182880">
                <a:tc>
                  <a:txBody>
                    <a:bodyPr/>
                    <a:lstStyle/>
                    <a:p>
                      <a:pPr algn="l"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105908</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102703</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97049</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96871</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115364</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129437</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112456</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dirty="0">
                          <a:effectLst/>
                        </a:rPr>
                        <a:t>759788</a:t>
                      </a:r>
                      <a:endParaRPr lang="en-IN" sz="11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11176269"/>
                  </a:ext>
                </a:extLst>
              </a:tr>
            </a:tbl>
          </a:graphicData>
        </a:graphic>
      </p:graphicFrame>
    </p:spTree>
    <p:extLst>
      <p:ext uri="{BB962C8B-B14F-4D97-AF65-F5344CB8AC3E}">
        <p14:creationId xmlns:p14="http://schemas.microsoft.com/office/powerpoint/2010/main" val="3891141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78A7E-F618-4C89-6AB8-636E972320C9}"/>
              </a:ext>
            </a:extLst>
          </p:cNvPr>
          <p:cNvSpPr>
            <a:spLocks noGrp="1"/>
          </p:cNvSpPr>
          <p:nvPr>
            <p:ph type="title"/>
          </p:nvPr>
        </p:nvSpPr>
        <p:spPr/>
        <p:txBody>
          <a:bodyPr/>
          <a:lstStyle/>
          <a:p>
            <a:pPr>
              <a:lnSpc>
                <a:spcPct val="100000"/>
              </a:lnSpc>
            </a:pPr>
            <a:r>
              <a:rPr lang="en-IN" b="1" dirty="0">
                <a:solidFill>
                  <a:srgbClr val="0047AB"/>
                </a:solidFill>
                <a:latin typeface="+mn-lt"/>
              </a:rPr>
              <a:t>Appendix #2</a:t>
            </a:r>
            <a:endParaRPr lang="en-IN" dirty="0"/>
          </a:p>
        </p:txBody>
      </p:sp>
      <p:graphicFrame>
        <p:nvGraphicFramePr>
          <p:cNvPr id="9" name="Content Placeholder 8">
            <a:extLst>
              <a:ext uri="{FF2B5EF4-FFF2-40B4-BE49-F238E27FC236}">
                <a16:creationId xmlns:a16="http://schemas.microsoft.com/office/drawing/2014/main" id="{664F77D9-6165-9D89-F9F9-6F29E8AFEF8F}"/>
              </a:ext>
            </a:extLst>
          </p:cNvPr>
          <p:cNvGraphicFramePr>
            <a:graphicFrameLocks noGrp="1"/>
          </p:cNvGraphicFramePr>
          <p:nvPr>
            <p:ph idx="1"/>
            <p:extLst>
              <p:ext uri="{D42A27DB-BD31-4B8C-83A1-F6EECF244321}">
                <p14:modId xmlns:p14="http://schemas.microsoft.com/office/powerpoint/2010/main" val="3722680095"/>
              </p:ext>
            </p:extLst>
          </p:nvPr>
        </p:nvGraphicFramePr>
        <p:xfrm>
          <a:off x="838200" y="1690688"/>
          <a:ext cx="1643838" cy="4351350"/>
        </p:xfrm>
        <a:graphic>
          <a:graphicData uri="http://schemas.openxmlformats.org/drawingml/2006/table">
            <a:tbl>
              <a:tblPr>
                <a:tableStyleId>{5C22544A-7EE6-4342-B048-85BDC9FD1C3A}</a:tableStyleId>
              </a:tblPr>
              <a:tblGrid>
                <a:gridCol w="821919">
                  <a:extLst>
                    <a:ext uri="{9D8B030D-6E8A-4147-A177-3AD203B41FA5}">
                      <a16:colId xmlns:a16="http://schemas.microsoft.com/office/drawing/2014/main" val="2483442806"/>
                    </a:ext>
                  </a:extLst>
                </a:gridCol>
                <a:gridCol w="821919">
                  <a:extLst>
                    <a:ext uri="{9D8B030D-6E8A-4147-A177-3AD203B41FA5}">
                      <a16:colId xmlns:a16="http://schemas.microsoft.com/office/drawing/2014/main" val="2672272881"/>
                    </a:ext>
                  </a:extLst>
                </a:gridCol>
              </a:tblGrid>
              <a:tr h="174054">
                <a:tc>
                  <a:txBody>
                    <a:bodyPr/>
                    <a:lstStyle/>
                    <a:p>
                      <a:pPr algn="l" fontAlgn="b"/>
                      <a:r>
                        <a:rPr lang="en-IN" sz="1000" u="none" strike="noStrike" dirty="0">
                          <a:effectLst/>
                        </a:rPr>
                        <a:t>Customer</a:t>
                      </a:r>
                      <a:endParaRPr lang="en-IN" sz="1000" b="1" i="0" u="none" strike="noStrike" dirty="0">
                        <a:solidFill>
                          <a:srgbClr val="000000"/>
                        </a:solidFill>
                        <a:effectLst/>
                        <a:latin typeface="Calibri" panose="020F0502020204030204" pitchFamily="34" charset="0"/>
                      </a:endParaRPr>
                    </a:p>
                  </a:txBody>
                  <a:tcPr marL="7252" marR="7252" marT="7252" marB="0" anchor="b"/>
                </a:tc>
                <a:tc>
                  <a:txBody>
                    <a:bodyPr/>
                    <a:lstStyle/>
                    <a:p>
                      <a:pPr algn="r" fontAlgn="b"/>
                      <a:r>
                        <a:rPr lang="en-IN" sz="1000" u="none" strike="noStrike">
                          <a:effectLst/>
                        </a:rPr>
                        <a:t>356752</a:t>
                      </a:r>
                      <a:endParaRPr lang="en-IN" sz="1000" b="1"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1554764900"/>
                  </a:ext>
                </a:extLst>
              </a:tr>
              <a:tr h="174054">
                <a:tc>
                  <a:txBody>
                    <a:bodyPr/>
                    <a:lstStyle/>
                    <a:p>
                      <a:pPr algn="l" fontAlgn="b"/>
                      <a:r>
                        <a:rPr lang="en-IN" sz="1000" u="none" strike="noStrike">
                          <a:effectLst/>
                        </a:rPr>
                        <a:t>0</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4591</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4044600245"/>
                  </a:ext>
                </a:extLst>
              </a:tr>
              <a:tr h="174054">
                <a:tc>
                  <a:txBody>
                    <a:bodyPr/>
                    <a:lstStyle/>
                    <a:p>
                      <a:pPr algn="l" fontAlgn="b"/>
                      <a:r>
                        <a:rPr lang="en-IN" sz="1000" u="none" strike="noStrike">
                          <a:effectLst/>
                        </a:rPr>
                        <a:t>1</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2903</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336786227"/>
                  </a:ext>
                </a:extLst>
              </a:tr>
              <a:tr h="174054">
                <a:tc>
                  <a:txBody>
                    <a:bodyPr/>
                    <a:lstStyle/>
                    <a:p>
                      <a:pPr algn="l" fontAlgn="b"/>
                      <a:r>
                        <a:rPr lang="en-IN" sz="1000" u="none" strike="noStrike">
                          <a:effectLst/>
                        </a:rPr>
                        <a:t>2</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1954</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283977837"/>
                  </a:ext>
                </a:extLst>
              </a:tr>
              <a:tr h="174054">
                <a:tc>
                  <a:txBody>
                    <a:bodyPr/>
                    <a:lstStyle/>
                    <a:p>
                      <a:pPr algn="l" fontAlgn="b"/>
                      <a:r>
                        <a:rPr lang="en-IN" sz="1000" u="none" strike="noStrike">
                          <a:effectLst/>
                        </a:rPr>
                        <a:t>3</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1156</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1975472297"/>
                  </a:ext>
                </a:extLst>
              </a:tr>
              <a:tr h="174054">
                <a:tc>
                  <a:txBody>
                    <a:bodyPr/>
                    <a:lstStyle/>
                    <a:p>
                      <a:pPr algn="l" fontAlgn="b"/>
                      <a:r>
                        <a:rPr lang="en-IN" sz="1000" u="none" strike="noStrike">
                          <a:effectLst/>
                        </a:rPr>
                        <a:t>4</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682</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750339933"/>
                  </a:ext>
                </a:extLst>
              </a:tr>
              <a:tr h="174054">
                <a:tc>
                  <a:txBody>
                    <a:bodyPr/>
                    <a:lstStyle/>
                    <a:p>
                      <a:pPr algn="l" fontAlgn="b"/>
                      <a:r>
                        <a:rPr lang="en-IN" sz="1000" u="none" strike="noStrike">
                          <a:effectLst/>
                        </a:rPr>
                        <a:t>5</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821</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949027372"/>
                  </a:ext>
                </a:extLst>
              </a:tr>
              <a:tr h="174054">
                <a:tc>
                  <a:txBody>
                    <a:bodyPr/>
                    <a:lstStyle/>
                    <a:p>
                      <a:pPr algn="l" fontAlgn="b"/>
                      <a:r>
                        <a:rPr lang="en-IN" sz="1000" u="none" strike="noStrike">
                          <a:effectLst/>
                        </a:rPr>
                        <a:t>6</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1954</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081188779"/>
                  </a:ext>
                </a:extLst>
              </a:tr>
              <a:tr h="174054">
                <a:tc>
                  <a:txBody>
                    <a:bodyPr/>
                    <a:lstStyle/>
                    <a:p>
                      <a:pPr algn="l" fontAlgn="b"/>
                      <a:r>
                        <a:rPr lang="en-IN" sz="1000" u="none" strike="noStrike">
                          <a:effectLst/>
                        </a:rPr>
                        <a:t>7</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4716</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382352248"/>
                  </a:ext>
                </a:extLst>
              </a:tr>
              <a:tr h="174054">
                <a:tc>
                  <a:txBody>
                    <a:bodyPr/>
                    <a:lstStyle/>
                    <a:p>
                      <a:pPr algn="l" fontAlgn="b"/>
                      <a:r>
                        <a:rPr lang="en-IN" sz="1000" u="none" strike="noStrike">
                          <a:effectLst/>
                        </a:rPr>
                        <a:t>8</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8806</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685818676"/>
                  </a:ext>
                </a:extLst>
              </a:tr>
              <a:tr h="174054">
                <a:tc>
                  <a:txBody>
                    <a:bodyPr/>
                    <a:lstStyle/>
                    <a:p>
                      <a:pPr algn="l" fontAlgn="b"/>
                      <a:r>
                        <a:rPr lang="en-IN" sz="1000" u="none" strike="noStrike">
                          <a:effectLst/>
                        </a:rPr>
                        <a:t>9</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11569</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018969574"/>
                  </a:ext>
                </a:extLst>
              </a:tr>
              <a:tr h="174054">
                <a:tc>
                  <a:txBody>
                    <a:bodyPr/>
                    <a:lstStyle/>
                    <a:p>
                      <a:pPr algn="l" fontAlgn="b"/>
                      <a:r>
                        <a:rPr lang="en-IN" sz="1000" u="none" strike="noStrike">
                          <a:effectLst/>
                        </a:rPr>
                        <a:t>10</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17829</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170944233"/>
                  </a:ext>
                </a:extLst>
              </a:tr>
              <a:tr h="174054">
                <a:tc>
                  <a:txBody>
                    <a:bodyPr/>
                    <a:lstStyle/>
                    <a:p>
                      <a:pPr algn="l" fontAlgn="b"/>
                      <a:r>
                        <a:rPr lang="en-IN" sz="1000" u="none" strike="noStrike">
                          <a:effectLst/>
                        </a:rPr>
                        <a:t>11</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24978</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4281215230"/>
                  </a:ext>
                </a:extLst>
              </a:tr>
              <a:tr h="174054">
                <a:tc>
                  <a:txBody>
                    <a:bodyPr/>
                    <a:lstStyle/>
                    <a:p>
                      <a:pPr algn="l" fontAlgn="b"/>
                      <a:r>
                        <a:rPr lang="en-IN" sz="1000" u="none" strike="noStrike">
                          <a:effectLst/>
                        </a:rPr>
                        <a:t>12</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28708</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864593159"/>
                  </a:ext>
                </a:extLst>
              </a:tr>
              <a:tr h="174054">
                <a:tc>
                  <a:txBody>
                    <a:bodyPr/>
                    <a:lstStyle/>
                    <a:p>
                      <a:pPr algn="l" fontAlgn="b"/>
                      <a:r>
                        <a:rPr lang="en-IN" sz="1000" u="none" strike="noStrike">
                          <a:effectLst/>
                        </a:rPr>
                        <a:t>13</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30797</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1310014942"/>
                  </a:ext>
                </a:extLst>
              </a:tr>
              <a:tr h="174054">
                <a:tc>
                  <a:txBody>
                    <a:bodyPr/>
                    <a:lstStyle/>
                    <a:p>
                      <a:pPr algn="l" fontAlgn="b"/>
                      <a:r>
                        <a:rPr lang="en-IN" sz="1000" u="none" strike="noStrike">
                          <a:effectLst/>
                        </a:rPr>
                        <a:t>14</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32230</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1177251101"/>
                  </a:ext>
                </a:extLst>
              </a:tr>
              <a:tr h="174054">
                <a:tc>
                  <a:txBody>
                    <a:bodyPr/>
                    <a:lstStyle/>
                    <a:p>
                      <a:pPr algn="l" fontAlgn="b"/>
                      <a:r>
                        <a:rPr lang="en-IN" sz="1000" u="none" strike="noStrike">
                          <a:effectLst/>
                        </a:rPr>
                        <a:t>15</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32737</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782427235"/>
                  </a:ext>
                </a:extLst>
              </a:tr>
              <a:tr h="174054">
                <a:tc>
                  <a:txBody>
                    <a:bodyPr/>
                    <a:lstStyle/>
                    <a:p>
                      <a:pPr algn="l" fontAlgn="b"/>
                      <a:r>
                        <a:rPr lang="en-IN" sz="1000" u="none" strike="noStrike">
                          <a:effectLst/>
                        </a:rPr>
                        <a:t>16</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32156</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1574839953"/>
                  </a:ext>
                </a:extLst>
              </a:tr>
              <a:tr h="174054">
                <a:tc>
                  <a:txBody>
                    <a:bodyPr/>
                    <a:lstStyle/>
                    <a:p>
                      <a:pPr algn="l" fontAlgn="b"/>
                      <a:r>
                        <a:rPr lang="en-IN" sz="1000" u="none" strike="noStrike">
                          <a:effectLst/>
                        </a:rPr>
                        <a:t>17</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31148</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878322247"/>
                  </a:ext>
                </a:extLst>
              </a:tr>
              <a:tr h="174054">
                <a:tc>
                  <a:txBody>
                    <a:bodyPr/>
                    <a:lstStyle/>
                    <a:p>
                      <a:pPr algn="l" fontAlgn="b"/>
                      <a:r>
                        <a:rPr lang="en-IN" sz="1000" u="none" strike="noStrike">
                          <a:effectLst/>
                        </a:rPr>
                        <a:t>18</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25259</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1276913851"/>
                  </a:ext>
                </a:extLst>
              </a:tr>
              <a:tr h="174054">
                <a:tc>
                  <a:txBody>
                    <a:bodyPr/>
                    <a:lstStyle/>
                    <a:p>
                      <a:pPr algn="l" fontAlgn="b"/>
                      <a:r>
                        <a:rPr lang="en-IN" sz="1000" u="none" strike="noStrike">
                          <a:effectLst/>
                        </a:rPr>
                        <a:t>19</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19182</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259925515"/>
                  </a:ext>
                </a:extLst>
              </a:tr>
              <a:tr h="174054">
                <a:tc>
                  <a:txBody>
                    <a:bodyPr/>
                    <a:lstStyle/>
                    <a:p>
                      <a:pPr algn="l" fontAlgn="b"/>
                      <a:r>
                        <a:rPr lang="en-IN" sz="1000" u="none" strike="noStrike">
                          <a:effectLst/>
                        </a:rPr>
                        <a:t>20</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13880</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602303810"/>
                  </a:ext>
                </a:extLst>
              </a:tr>
              <a:tr h="174054">
                <a:tc>
                  <a:txBody>
                    <a:bodyPr/>
                    <a:lstStyle/>
                    <a:p>
                      <a:pPr algn="l" fontAlgn="b"/>
                      <a:r>
                        <a:rPr lang="en-IN" sz="1000" u="none" strike="noStrike">
                          <a:effectLst/>
                        </a:rPr>
                        <a:t>21</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11650</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102246635"/>
                  </a:ext>
                </a:extLst>
              </a:tr>
              <a:tr h="174054">
                <a:tc>
                  <a:txBody>
                    <a:bodyPr/>
                    <a:lstStyle/>
                    <a:p>
                      <a:pPr algn="l" fontAlgn="b"/>
                      <a:r>
                        <a:rPr lang="en-IN" sz="1000" u="none" strike="noStrike">
                          <a:effectLst/>
                        </a:rPr>
                        <a:t>22</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10069</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112642056"/>
                  </a:ext>
                </a:extLst>
              </a:tr>
              <a:tr h="174054">
                <a:tc>
                  <a:txBody>
                    <a:bodyPr/>
                    <a:lstStyle/>
                    <a:p>
                      <a:pPr algn="l" fontAlgn="b"/>
                      <a:r>
                        <a:rPr lang="en-IN" sz="1000" u="none" strike="noStrike">
                          <a:effectLst/>
                        </a:rPr>
                        <a:t>23</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dirty="0">
                          <a:effectLst/>
                        </a:rPr>
                        <a:t>6977</a:t>
                      </a:r>
                      <a:endParaRPr lang="en-IN" sz="1000" b="0" i="0" u="none" strike="noStrike" dirty="0">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750749845"/>
                  </a:ext>
                </a:extLst>
              </a:tr>
            </a:tbl>
          </a:graphicData>
        </a:graphic>
      </p:graphicFrame>
      <p:graphicFrame>
        <p:nvGraphicFramePr>
          <p:cNvPr id="10" name="Table 9">
            <a:extLst>
              <a:ext uri="{FF2B5EF4-FFF2-40B4-BE49-F238E27FC236}">
                <a16:creationId xmlns:a16="http://schemas.microsoft.com/office/drawing/2014/main" id="{F5C61E74-6E9C-DFCE-265D-E16A824FF3F7}"/>
              </a:ext>
            </a:extLst>
          </p:cNvPr>
          <p:cNvGraphicFramePr>
            <a:graphicFrameLocks noGrp="1"/>
          </p:cNvGraphicFramePr>
          <p:nvPr>
            <p:extLst>
              <p:ext uri="{D42A27DB-BD31-4B8C-83A1-F6EECF244321}">
                <p14:modId xmlns:p14="http://schemas.microsoft.com/office/powerpoint/2010/main" val="2117405860"/>
              </p:ext>
            </p:extLst>
          </p:nvPr>
        </p:nvGraphicFramePr>
        <p:xfrm>
          <a:off x="3149907" y="1690688"/>
          <a:ext cx="1643838" cy="4351350"/>
        </p:xfrm>
        <a:graphic>
          <a:graphicData uri="http://schemas.openxmlformats.org/drawingml/2006/table">
            <a:tbl>
              <a:tblPr>
                <a:tableStyleId>{5C22544A-7EE6-4342-B048-85BDC9FD1C3A}</a:tableStyleId>
              </a:tblPr>
              <a:tblGrid>
                <a:gridCol w="821919">
                  <a:extLst>
                    <a:ext uri="{9D8B030D-6E8A-4147-A177-3AD203B41FA5}">
                      <a16:colId xmlns:a16="http://schemas.microsoft.com/office/drawing/2014/main" val="2079546373"/>
                    </a:ext>
                  </a:extLst>
                </a:gridCol>
                <a:gridCol w="821919">
                  <a:extLst>
                    <a:ext uri="{9D8B030D-6E8A-4147-A177-3AD203B41FA5}">
                      <a16:colId xmlns:a16="http://schemas.microsoft.com/office/drawing/2014/main" val="1982010191"/>
                    </a:ext>
                  </a:extLst>
                </a:gridCol>
              </a:tblGrid>
              <a:tr h="174054">
                <a:tc>
                  <a:txBody>
                    <a:bodyPr/>
                    <a:lstStyle/>
                    <a:p>
                      <a:pPr algn="l" fontAlgn="b"/>
                      <a:r>
                        <a:rPr lang="en-IN" sz="1000" u="none" strike="noStrike">
                          <a:effectLst/>
                        </a:rPr>
                        <a:t>Subscriber</a:t>
                      </a:r>
                      <a:endParaRPr lang="en-IN" sz="1000" b="1" i="0" u="none" strike="noStrike">
                        <a:solidFill>
                          <a:srgbClr val="000000"/>
                        </a:solidFill>
                        <a:effectLst/>
                        <a:latin typeface="Calibri" panose="020F0502020204030204" pitchFamily="34" charset="0"/>
                      </a:endParaRPr>
                    </a:p>
                  </a:txBody>
                  <a:tcPr marL="7252" marR="7252" marT="7252" marB="0" anchor="b"/>
                </a:tc>
                <a:tc>
                  <a:txBody>
                    <a:bodyPr/>
                    <a:lstStyle/>
                    <a:p>
                      <a:pPr algn="r" fontAlgn="b"/>
                      <a:r>
                        <a:rPr lang="en-IN" sz="1000" u="none" strike="noStrike">
                          <a:effectLst/>
                        </a:rPr>
                        <a:t>403036</a:t>
                      </a:r>
                      <a:endParaRPr lang="en-IN" sz="1000" b="1"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4066798518"/>
                  </a:ext>
                </a:extLst>
              </a:tr>
              <a:tr h="174054">
                <a:tc>
                  <a:txBody>
                    <a:bodyPr/>
                    <a:lstStyle/>
                    <a:p>
                      <a:pPr algn="l" fontAlgn="b"/>
                      <a:r>
                        <a:rPr lang="en-IN" sz="1000" u="none" strike="noStrike">
                          <a:effectLst/>
                        </a:rPr>
                        <a:t>0</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2714</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4236368702"/>
                  </a:ext>
                </a:extLst>
              </a:tr>
              <a:tr h="174054">
                <a:tc>
                  <a:txBody>
                    <a:bodyPr/>
                    <a:lstStyle/>
                    <a:p>
                      <a:pPr algn="l" fontAlgn="b"/>
                      <a:r>
                        <a:rPr lang="en-IN" sz="1000" u="none" strike="noStrike">
                          <a:effectLst/>
                        </a:rPr>
                        <a:t>1</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1582</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394458300"/>
                  </a:ext>
                </a:extLst>
              </a:tr>
              <a:tr h="174054">
                <a:tc>
                  <a:txBody>
                    <a:bodyPr/>
                    <a:lstStyle/>
                    <a:p>
                      <a:pPr algn="l" fontAlgn="b"/>
                      <a:r>
                        <a:rPr lang="en-IN" sz="1000" u="none" strike="noStrike">
                          <a:effectLst/>
                        </a:rPr>
                        <a:t>2</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947</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888104090"/>
                  </a:ext>
                </a:extLst>
              </a:tr>
              <a:tr h="174054">
                <a:tc>
                  <a:txBody>
                    <a:bodyPr/>
                    <a:lstStyle/>
                    <a:p>
                      <a:pPr algn="l" fontAlgn="b"/>
                      <a:r>
                        <a:rPr lang="en-IN" sz="1000" u="none" strike="noStrike">
                          <a:effectLst/>
                        </a:rPr>
                        <a:t>3</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561</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846990774"/>
                  </a:ext>
                </a:extLst>
              </a:tr>
              <a:tr h="174054">
                <a:tc>
                  <a:txBody>
                    <a:bodyPr/>
                    <a:lstStyle/>
                    <a:p>
                      <a:pPr algn="l" fontAlgn="b"/>
                      <a:r>
                        <a:rPr lang="en-IN" sz="1000" u="none" strike="noStrike">
                          <a:effectLst/>
                        </a:rPr>
                        <a:t>4</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704</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4246616628"/>
                  </a:ext>
                </a:extLst>
              </a:tr>
              <a:tr h="174054">
                <a:tc>
                  <a:txBody>
                    <a:bodyPr/>
                    <a:lstStyle/>
                    <a:p>
                      <a:pPr algn="l" fontAlgn="b"/>
                      <a:r>
                        <a:rPr lang="en-IN" sz="1000" u="none" strike="noStrike">
                          <a:effectLst/>
                        </a:rPr>
                        <a:t>5</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2593</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110095214"/>
                  </a:ext>
                </a:extLst>
              </a:tr>
              <a:tr h="174054">
                <a:tc>
                  <a:txBody>
                    <a:bodyPr/>
                    <a:lstStyle/>
                    <a:p>
                      <a:pPr algn="l" fontAlgn="b"/>
                      <a:r>
                        <a:rPr lang="en-IN" sz="1000" u="none" strike="noStrike">
                          <a:effectLst/>
                        </a:rPr>
                        <a:t>6</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11393</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292743075"/>
                  </a:ext>
                </a:extLst>
              </a:tr>
              <a:tr h="174054">
                <a:tc>
                  <a:txBody>
                    <a:bodyPr/>
                    <a:lstStyle/>
                    <a:p>
                      <a:pPr algn="l" fontAlgn="b"/>
                      <a:r>
                        <a:rPr lang="en-IN" sz="1000" u="none" strike="noStrike">
                          <a:effectLst/>
                        </a:rPr>
                        <a:t>7</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29807</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93843374"/>
                  </a:ext>
                </a:extLst>
              </a:tr>
              <a:tr h="174054">
                <a:tc>
                  <a:txBody>
                    <a:bodyPr/>
                    <a:lstStyle/>
                    <a:p>
                      <a:pPr algn="l" fontAlgn="b"/>
                      <a:r>
                        <a:rPr lang="en-IN" sz="1000" u="none" strike="noStrike">
                          <a:effectLst/>
                        </a:rPr>
                        <a:t>8</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41430</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915487945"/>
                  </a:ext>
                </a:extLst>
              </a:tr>
              <a:tr h="174054">
                <a:tc>
                  <a:txBody>
                    <a:bodyPr/>
                    <a:lstStyle/>
                    <a:p>
                      <a:pPr algn="l" fontAlgn="b"/>
                      <a:r>
                        <a:rPr lang="en-IN" sz="1000" u="none" strike="noStrike">
                          <a:effectLst/>
                        </a:rPr>
                        <a:t>9</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20403</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080753199"/>
                  </a:ext>
                </a:extLst>
              </a:tr>
              <a:tr h="174054">
                <a:tc>
                  <a:txBody>
                    <a:bodyPr/>
                    <a:lstStyle/>
                    <a:p>
                      <a:pPr algn="l" fontAlgn="b"/>
                      <a:r>
                        <a:rPr lang="en-IN" sz="1000" u="none" strike="noStrike">
                          <a:effectLst/>
                        </a:rPr>
                        <a:t>10</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14196</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444947405"/>
                  </a:ext>
                </a:extLst>
              </a:tr>
              <a:tr h="174054">
                <a:tc>
                  <a:txBody>
                    <a:bodyPr/>
                    <a:lstStyle/>
                    <a:p>
                      <a:pPr algn="l" fontAlgn="b"/>
                      <a:r>
                        <a:rPr lang="en-IN" sz="1000" u="none" strike="noStrike">
                          <a:effectLst/>
                        </a:rPr>
                        <a:t>11</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17700</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845068298"/>
                  </a:ext>
                </a:extLst>
              </a:tr>
              <a:tr h="174054">
                <a:tc>
                  <a:txBody>
                    <a:bodyPr/>
                    <a:lstStyle/>
                    <a:p>
                      <a:pPr algn="l" fontAlgn="b"/>
                      <a:r>
                        <a:rPr lang="en-IN" sz="1000" u="none" strike="noStrike">
                          <a:effectLst/>
                        </a:rPr>
                        <a:t>12</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21463</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058337915"/>
                  </a:ext>
                </a:extLst>
              </a:tr>
              <a:tr h="174054">
                <a:tc>
                  <a:txBody>
                    <a:bodyPr/>
                    <a:lstStyle/>
                    <a:p>
                      <a:pPr algn="l" fontAlgn="b"/>
                      <a:r>
                        <a:rPr lang="en-IN" sz="1000" u="none" strike="noStrike">
                          <a:effectLst/>
                        </a:rPr>
                        <a:t>13</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20198</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746115734"/>
                  </a:ext>
                </a:extLst>
              </a:tr>
              <a:tr h="174054">
                <a:tc>
                  <a:txBody>
                    <a:bodyPr/>
                    <a:lstStyle/>
                    <a:p>
                      <a:pPr algn="l" fontAlgn="b"/>
                      <a:r>
                        <a:rPr lang="en-IN" sz="1000" u="none" strike="noStrike">
                          <a:effectLst/>
                        </a:rPr>
                        <a:t>14</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17969</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617281678"/>
                  </a:ext>
                </a:extLst>
              </a:tr>
              <a:tr h="174054">
                <a:tc>
                  <a:txBody>
                    <a:bodyPr/>
                    <a:lstStyle/>
                    <a:p>
                      <a:pPr algn="l" fontAlgn="b"/>
                      <a:r>
                        <a:rPr lang="en-IN" sz="1000" u="none" strike="noStrike">
                          <a:effectLst/>
                        </a:rPr>
                        <a:t>15</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21529</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977150089"/>
                  </a:ext>
                </a:extLst>
              </a:tr>
              <a:tr h="174054">
                <a:tc>
                  <a:txBody>
                    <a:bodyPr/>
                    <a:lstStyle/>
                    <a:p>
                      <a:pPr algn="l" fontAlgn="b"/>
                      <a:r>
                        <a:rPr lang="en-IN" sz="1000" u="none" strike="noStrike">
                          <a:effectLst/>
                        </a:rPr>
                        <a:t>16</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34639</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894820868"/>
                  </a:ext>
                </a:extLst>
              </a:tr>
              <a:tr h="174054">
                <a:tc>
                  <a:txBody>
                    <a:bodyPr/>
                    <a:lstStyle/>
                    <a:p>
                      <a:pPr algn="l" fontAlgn="b"/>
                      <a:r>
                        <a:rPr lang="en-IN" sz="1000" u="none" strike="noStrike">
                          <a:effectLst/>
                        </a:rPr>
                        <a:t>17</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52551</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1589045149"/>
                  </a:ext>
                </a:extLst>
              </a:tr>
              <a:tr h="174054">
                <a:tc>
                  <a:txBody>
                    <a:bodyPr/>
                    <a:lstStyle/>
                    <a:p>
                      <a:pPr algn="l" fontAlgn="b"/>
                      <a:r>
                        <a:rPr lang="en-IN" sz="1000" u="none" strike="noStrike">
                          <a:effectLst/>
                        </a:rPr>
                        <a:t>18</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33709</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992720690"/>
                  </a:ext>
                </a:extLst>
              </a:tr>
              <a:tr h="174054">
                <a:tc>
                  <a:txBody>
                    <a:bodyPr/>
                    <a:lstStyle/>
                    <a:p>
                      <a:pPr algn="l" fontAlgn="b"/>
                      <a:r>
                        <a:rPr lang="en-IN" sz="1000" u="none" strike="noStrike">
                          <a:effectLst/>
                        </a:rPr>
                        <a:t>19</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20942</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963044137"/>
                  </a:ext>
                </a:extLst>
              </a:tr>
              <a:tr h="174054">
                <a:tc>
                  <a:txBody>
                    <a:bodyPr/>
                    <a:lstStyle/>
                    <a:p>
                      <a:pPr algn="l" fontAlgn="b"/>
                      <a:r>
                        <a:rPr lang="en-IN" sz="1000" u="none" strike="noStrike">
                          <a:effectLst/>
                        </a:rPr>
                        <a:t>20</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13933</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797520"/>
                  </a:ext>
                </a:extLst>
              </a:tr>
              <a:tr h="174054">
                <a:tc>
                  <a:txBody>
                    <a:bodyPr/>
                    <a:lstStyle/>
                    <a:p>
                      <a:pPr algn="l" fontAlgn="b"/>
                      <a:r>
                        <a:rPr lang="en-IN" sz="1000" u="none" strike="noStrike">
                          <a:effectLst/>
                        </a:rPr>
                        <a:t>21</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10192</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2532456172"/>
                  </a:ext>
                </a:extLst>
              </a:tr>
              <a:tr h="174054">
                <a:tc>
                  <a:txBody>
                    <a:bodyPr/>
                    <a:lstStyle/>
                    <a:p>
                      <a:pPr algn="l" fontAlgn="b"/>
                      <a:r>
                        <a:rPr lang="en-IN" sz="1000" u="none" strike="noStrike">
                          <a:effectLst/>
                        </a:rPr>
                        <a:t>22</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a:effectLst/>
                        </a:rPr>
                        <a:t>7435</a:t>
                      </a:r>
                      <a:endParaRPr lang="en-IN" sz="1000" b="0" i="0" u="none" strike="noStrike">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1762380011"/>
                  </a:ext>
                </a:extLst>
              </a:tr>
              <a:tr h="174054">
                <a:tc>
                  <a:txBody>
                    <a:bodyPr/>
                    <a:lstStyle/>
                    <a:p>
                      <a:pPr algn="l" fontAlgn="b"/>
                      <a:r>
                        <a:rPr lang="en-IN" sz="1000" u="none" strike="noStrike">
                          <a:effectLst/>
                        </a:rPr>
                        <a:t>23</a:t>
                      </a:r>
                      <a:endParaRPr lang="en-IN" sz="1000" b="0" i="0" u="none" strike="noStrike">
                        <a:solidFill>
                          <a:srgbClr val="000000"/>
                        </a:solidFill>
                        <a:effectLst/>
                        <a:latin typeface="Calibri" panose="020F0502020204030204" pitchFamily="34" charset="0"/>
                      </a:endParaRPr>
                    </a:p>
                  </a:txBody>
                  <a:tcPr marL="87027" marR="7252" marT="7252" marB="0" anchor="b"/>
                </a:tc>
                <a:tc>
                  <a:txBody>
                    <a:bodyPr/>
                    <a:lstStyle/>
                    <a:p>
                      <a:pPr algn="r" fontAlgn="b"/>
                      <a:r>
                        <a:rPr lang="en-IN" sz="1000" u="none" strike="noStrike" dirty="0">
                          <a:effectLst/>
                        </a:rPr>
                        <a:t>4446</a:t>
                      </a:r>
                      <a:endParaRPr lang="en-IN" sz="1000" b="0" i="0" u="none" strike="noStrike" dirty="0">
                        <a:solidFill>
                          <a:srgbClr val="000000"/>
                        </a:solidFill>
                        <a:effectLst/>
                        <a:latin typeface="Calibri" panose="020F0502020204030204" pitchFamily="34" charset="0"/>
                      </a:endParaRPr>
                    </a:p>
                  </a:txBody>
                  <a:tcPr marL="7252" marR="7252" marT="7252" marB="0" anchor="b"/>
                </a:tc>
                <a:extLst>
                  <a:ext uri="{0D108BD9-81ED-4DB2-BD59-A6C34878D82A}">
                    <a16:rowId xmlns:a16="http://schemas.microsoft.com/office/drawing/2014/main" val="327170270"/>
                  </a:ext>
                </a:extLst>
              </a:tr>
            </a:tbl>
          </a:graphicData>
        </a:graphic>
      </p:graphicFrame>
      <p:graphicFrame>
        <p:nvGraphicFramePr>
          <p:cNvPr id="11" name="Table 10">
            <a:extLst>
              <a:ext uri="{FF2B5EF4-FFF2-40B4-BE49-F238E27FC236}">
                <a16:creationId xmlns:a16="http://schemas.microsoft.com/office/drawing/2014/main" id="{2BA52B93-332B-A71E-F129-C727DEAC5659}"/>
              </a:ext>
            </a:extLst>
          </p:cNvPr>
          <p:cNvGraphicFramePr>
            <a:graphicFrameLocks noGrp="1"/>
          </p:cNvGraphicFramePr>
          <p:nvPr>
            <p:extLst>
              <p:ext uri="{D42A27DB-BD31-4B8C-83A1-F6EECF244321}">
                <p14:modId xmlns:p14="http://schemas.microsoft.com/office/powerpoint/2010/main" val="2715192794"/>
              </p:ext>
            </p:extLst>
          </p:nvPr>
        </p:nvGraphicFramePr>
        <p:xfrm>
          <a:off x="5461614" y="1690688"/>
          <a:ext cx="2209800" cy="2194560"/>
        </p:xfrm>
        <a:graphic>
          <a:graphicData uri="http://schemas.openxmlformats.org/drawingml/2006/table">
            <a:tbl>
              <a:tblPr>
                <a:tableStyleId>{5C22544A-7EE6-4342-B048-85BDC9FD1C3A}</a:tableStyleId>
              </a:tblPr>
              <a:tblGrid>
                <a:gridCol w="1346200">
                  <a:extLst>
                    <a:ext uri="{9D8B030D-6E8A-4147-A177-3AD203B41FA5}">
                      <a16:colId xmlns:a16="http://schemas.microsoft.com/office/drawing/2014/main" val="3843924649"/>
                    </a:ext>
                  </a:extLst>
                </a:gridCol>
                <a:gridCol w="863600">
                  <a:extLst>
                    <a:ext uri="{9D8B030D-6E8A-4147-A177-3AD203B41FA5}">
                      <a16:colId xmlns:a16="http://schemas.microsoft.com/office/drawing/2014/main" val="3699418020"/>
                    </a:ext>
                  </a:extLst>
                </a:gridCol>
              </a:tblGrid>
              <a:tr h="182880">
                <a:tc>
                  <a:txBody>
                    <a:bodyPr/>
                    <a:lstStyle/>
                    <a:p>
                      <a:pPr algn="l" fontAlgn="b"/>
                      <a:r>
                        <a:rPr lang="en-IN" sz="1100" u="none" strike="noStrike" dirty="0">
                          <a:effectLst/>
                        </a:rPr>
                        <a:t>Row Labels</a:t>
                      </a:r>
                      <a:endParaRPr lang="en-IN"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a:effectLst/>
                        </a:rPr>
                        <a:t>Sum of Count</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15313196"/>
                  </a:ext>
                </a:extLst>
              </a:tr>
              <a:tr h="182880">
                <a:tc>
                  <a:txBody>
                    <a:bodyPr/>
                    <a:lstStyle/>
                    <a:p>
                      <a:pPr algn="l" fontAlgn="b"/>
                      <a:r>
                        <a:rPr lang="en-IN" sz="1100" u="none" strike="noStrike">
                          <a:effectLst/>
                        </a:rPr>
                        <a:t>Customer</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356752</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63569084"/>
                  </a:ext>
                </a:extLst>
              </a:tr>
              <a:tr h="182880">
                <a:tc>
                  <a:txBody>
                    <a:bodyPr/>
                    <a:lstStyle/>
                    <a:p>
                      <a:pPr algn="l" fontAlgn="b"/>
                      <a:r>
                        <a:rPr lang="en-IN" sz="1100" u="none" strike="noStrike">
                          <a:effectLst/>
                        </a:rPr>
                        <a:t>10 to 15 Minutes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56358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41815678"/>
                  </a:ext>
                </a:extLst>
              </a:tr>
              <a:tr h="182880">
                <a:tc>
                  <a:txBody>
                    <a:bodyPr/>
                    <a:lstStyle/>
                    <a:p>
                      <a:pPr algn="l" fontAlgn="b"/>
                      <a:r>
                        <a:rPr lang="en-IN" sz="1100" u="none" strike="noStrike">
                          <a:effectLst/>
                        </a:rPr>
                        <a:t>15 to 30 Minutes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157101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28046049"/>
                  </a:ext>
                </a:extLst>
              </a:tr>
              <a:tr h="182880">
                <a:tc>
                  <a:txBody>
                    <a:bodyPr/>
                    <a:lstStyle/>
                    <a:p>
                      <a:pPr algn="l" fontAlgn="b"/>
                      <a:r>
                        <a:rPr lang="en-IN" sz="1100" u="none" strike="noStrike">
                          <a:effectLst/>
                        </a:rPr>
                        <a:t>Over 60 Minutes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85724</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8798754"/>
                  </a:ext>
                </a:extLst>
              </a:tr>
              <a:tr h="182880">
                <a:tc>
                  <a:txBody>
                    <a:bodyPr/>
                    <a:lstStyle/>
                    <a:p>
                      <a:pPr algn="l" fontAlgn="b"/>
                      <a:r>
                        <a:rPr lang="en-IN" sz="1100" u="none" strike="noStrike">
                          <a:effectLst/>
                        </a:rPr>
                        <a:t>Under 10 Minutes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57569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97990662"/>
                  </a:ext>
                </a:extLst>
              </a:tr>
              <a:tr h="182880">
                <a:tc>
                  <a:txBody>
                    <a:bodyPr/>
                    <a:lstStyle/>
                    <a:p>
                      <a:pPr algn="l" fontAlgn="b"/>
                      <a:r>
                        <a:rPr lang="en-IN" sz="1100" u="none" strike="noStrike">
                          <a:effectLst/>
                        </a:rPr>
                        <a:t>Subscriber</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a:effectLst/>
                        </a:rPr>
                        <a:t>403036</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19967181"/>
                  </a:ext>
                </a:extLst>
              </a:tr>
              <a:tr h="182880">
                <a:tc>
                  <a:txBody>
                    <a:bodyPr/>
                    <a:lstStyle/>
                    <a:p>
                      <a:pPr algn="l" fontAlgn="b"/>
                      <a:r>
                        <a:rPr lang="en-IN" sz="1100" u="none" strike="noStrike">
                          <a:effectLst/>
                        </a:rPr>
                        <a:t>10 to 15 Minutes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84890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65466345"/>
                  </a:ext>
                </a:extLst>
              </a:tr>
              <a:tr h="182880">
                <a:tc>
                  <a:txBody>
                    <a:bodyPr/>
                    <a:lstStyle/>
                    <a:p>
                      <a:pPr algn="l" fontAlgn="b"/>
                      <a:r>
                        <a:rPr lang="en-IN" sz="1100" u="none" strike="noStrike">
                          <a:effectLst/>
                        </a:rPr>
                        <a:t>15 to 30 Minutes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84262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82669605"/>
                  </a:ext>
                </a:extLst>
              </a:tr>
              <a:tr h="182880">
                <a:tc>
                  <a:txBody>
                    <a:bodyPr/>
                    <a:lstStyle/>
                    <a:p>
                      <a:pPr algn="l" fontAlgn="b"/>
                      <a:r>
                        <a:rPr lang="en-IN" sz="1100" u="none" strike="noStrike">
                          <a:effectLst/>
                        </a:rPr>
                        <a:t>Over 60 Minutes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6876</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16545897"/>
                  </a:ext>
                </a:extLst>
              </a:tr>
              <a:tr h="182880">
                <a:tc>
                  <a:txBody>
                    <a:bodyPr/>
                    <a:lstStyle/>
                    <a:p>
                      <a:pPr algn="l" fontAlgn="b"/>
                      <a:r>
                        <a:rPr lang="en-IN" sz="1100" u="none" strike="noStrike">
                          <a:effectLst/>
                        </a:rPr>
                        <a:t>Under 10 Minutes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r>
                        <a:rPr lang="en-IN" sz="1100" u="none" strike="noStrike">
                          <a:effectLst/>
                        </a:rPr>
                        <a:t>227008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80772841"/>
                  </a:ext>
                </a:extLst>
              </a:tr>
              <a:tr h="182880">
                <a:tc>
                  <a:txBody>
                    <a:bodyPr/>
                    <a:lstStyle/>
                    <a:p>
                      <a:pPr algn="l"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IN" sz="1100" u="none" strike="noStrike" dirty="0">
                          <a:effectLst/>
                        </a:rPr>
                        <a:t>759788</a:t>
                      </a:r>
                      <a:endParaRPr lang="en-IN" sz="11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75250411"/>
                  </a:ext>
                </a:extLst>
              </a:tr>
            </a:tbl>
          </a:graphicData>
        </a:graphic>
      </p:graphicFrame>
    </p:spTree>
    <p:extLst>
      <p:ext uri="{BB962C8B-B14F-4D97-AF65-F5344CB8AC3E}">
        <p14:creationId xmlns:p14="http://schemas.microsoft.com/office/powerpoint/2010/main" val="1054916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2770</TotalTime>
  <Words>1145</Words>
  <Application>Microsoft Office PowerPoint</Application>
  <PresentationFormat>Widescreen</PresentationFormat>
  <Paragraphs>374</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Arial</vt:lpstr>
      <vt:lpstr>Calibri</vt:lpstr>
      <vt:lpstr>Calibri Light</vt:lpstr>
      <vt:lpstr>Office Theme</vt:lpstr>
      <vt:lpstr>Cyclistic Bike Share Data Analysis</vt:lpstr>
      <vt:lpstr>Introduction</vt:lpstr>
      <vt:lpstr>Business Task</vt:lpstr>
      <vt:lpstr>Executive Summary</vt:lpstr>
      <vt:lpstr>Data Source</vt:lpstr>
      <vt:lpstr>Data Preparation &amp; Processing</vt:lpstr>
      <vt:lpstr>PowerPoint Presentation</vt:lpstr>
      <vt:lpstr>Observed Trends / Key Insights:</vt:lpstr>
      <vt:lpstr>PowerPoint Presentation</vt:lpstr>
      <vt:lpstr>Observed Trends / Key Insights:</vt:lpstr>
      <vt:lpstr>PowerPoint Presentation</vt:lpstr>
      <vt:lpstr>Observed Trends / Key Insights:</vt:lpstr>
      <vt:lpstr>PowerPoint Presentation</vt:lpstr>
      <vt:lpstr>Observed Trends / Key Insights:</vt:lpstr>
      <vt:lpstr>PowerPoint Presentation</vt:lpstr>
      <vt:lpstr>Observed Trends / Key Insights:</vt:lpstr>
      <vt:lpstr>PowerPoint Presentation</vt:lpstr>
      <vt:lpstr>Observed Trends / Key Insights:</vt:lpstr>
      <vt:lpstr>PowerPoint Presentation</vt:lpstr>
      <vt:lpstr>Observed Trends / Key Insights:</vt:lpstr>
      <vt:lpstr>PowerPoint Presentation</vt:lpstr>
      <vt:lpstr>Observed Trends / Key Insights:</vt:lpstr>
      <vt:lpstr>Key Finding #1: Ride Duration</vt:lpstr>
      <vt:lpstr>Key Finding #2: Weekly Usage Patterns</vt:lpstr>
      <vt:lpstr>Key Finding #3: Hourly Trends</vt:lpstr>
      <vt:lpstr>Recommendation #1: </vt:lpstr>
      <vt:lpstr>Recommendation #2: </vt:lpstr>
      <vt:lpstr>Recommendation #3: </vt:lpstr>
      <vt:lpstr>Thank You</vt:lpstr>
      <vt:lpstr>Appendix #1 </vt:lpstr>
      <vt:lpstr>Appendix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Altamash Ali</dc:creator>
  <cp:lastModifiedBy>Altamash Ali</cp:lastModifiedBy>
  <cp:revision>40</cp:revision>
  <dcterms:created xsi:type="dcterms:W3CDTF">2025-04-22T13:41:13Z</dcterms:created>
  <dcterms:modified xsi:type="dcterms:W3CDTF">2025-04-28T02:42:01Z</dcterms:modified>
</cp:coreProperties>
</file>